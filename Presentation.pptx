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y="5143500" cx="9144000"/>
  <p:notesSz cx="6858000" cy="9144000"/>
  <p:embeddedFontLst>
    <p:embeddedFont>
      <p:font typeface="Roboto Mono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RobotoMono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RobotoMono-italic.fntdata"/><Relationship Id="rId30" Type="http://schemas.openxmlformats.org/officeDocument/2006/relationships/font" Target="fonts/RobotoMono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32" Type="http://schemas.openxmlformats.org/officeDocument/2006/relationships/font" Target="fonts/RobotoMono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1a6db61b9c0fefc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h1a6db61b9c0fefc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h1a6db61b9c0fefc6_0_2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h1a6db61b9c0fefc6_0_2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03359"/>
                </a:solidFill>
                <a:highlight>
                  <a:srgbClr val="F5F5F5"/>
                </a:highlight>
              </a:rPr>
              <a:t>Why this matters for O-RAN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003359"/>
                </a:solidFill>
                <a:highlight>
                  <a:srgbClr val="F5F5F5"/>
                </a:highlight>
              </a:rPr>
              <a:t>Open interfaces widen the attack surface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003359"/>
                </a:solidFill>
                <a:highlight>
                  <a:srgbClr val="F5F5F5"/>
                </a:highlight>
              </a:rPr>
              <a:t>O1 controls the entire RAN centrally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003359"/>
                </a:solidFill>
                <a:highlight>
                  <a:srgbClr val="F5F5F5"/>
                </a:highlight>
              </a:rPr>
              <a:t>One management channel, one point of failure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003359"/>
                </a:solidFill>
                <a:highlight>
                  <a:srgbClr val="F5F5F5"/>
                </a:highlight>
              </a:rPr>
              <a:t>A high-value, high-impact DoS target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003359"/>
              </a:solidFill>
              <a:highlight>
                <a:srgbClr val="F5F5F5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03359"/>
                </a:solidFill>
                <a:highlight>
                  <a:srgbClr val="F5F5F5"/>
                </a:highlight>
              </a:rPr>
              <a:t>What this project targets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003359"/>
                </a:solidFill>
                <a:highlight>
                  <a:srgbClr val="F5F5F5"/>
                </a:highlight>
              </a:rPr>
              <a:t>Focus: the O1 interface (SMO ↔ O-DU)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003359"/>
                </a:solidFill>
                <a:highlight>
                  <a:srgbClr val="F5F5F5"/>
                </a:highlight>
              </a:rPr>
              <a:t>Protocol: NETCONF over TLS, port 6513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003359"/>
                </a:solidFill>
                <a:highlight>
                  <a:srgbClr val="F5F5F5"/>
                </a:highlight>
              </a:rPr>
              <a:t>Threat scenario: T-SMO-03 (denial of service)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003359"/>
                </a:solidFill>
                <a:highlight>
                  <a:srgbClr val="F5F5F5"/>
                </a:highlight>
              </a:rPr>
              <a:t>Studies O1 exposure to DDoS attacks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003359"/>
                </a:solidFill>
                <a:highlight>
                  <a:srgbClr val="F5F5F5"/>
                </a:highlight>
              </a:rPr>
              <a:t>Telecom is a top-targeted sector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003359"/>
                </a:solidFill>
                <a:highlight>
                  <a:srgbClr val="F5F5F5"/>
                </a:highlight>
              </a:rPr>
              <a:t>Only 44% stay attack-free for 30 days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003359"/>
              </a:solidFill>
              <a:highlight>
                <a:srgbClr val="F5F5F5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03359"/>
                </a:solidFill>
                <a:highlight>
                  <a:srgbClr val="F5F5F5"/>
                </a:highlight>
              </a:rPr>
              <a:t>Why detection must evolve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t/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003359"/>
                </a:solidFill>
                <a:highlight>
                  <a:srgbClr val="F5F5F5"/>
                </a:highlight>
              </a:rPr>
              <a:t>Short-burst, low-volume attacks evade legacy tools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003359"/>
                </a:solidFill>
                <a:highlight>
                  <a:srgbClr val="F5F5F5"/>
                </a:highlight>
              </a:rPr>
              <a:t>Detection must be fast and behavioural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003359"/>
                </a:solidFill>
                <a:highlight>
                  <a:srgbClr val="F5F5F5"/>
                </a:highlight>
              </a:rPr>
              <a:t>Not volumetric thresholds alone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-288925" lvl="0" marL="635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950"/>
              <a:buFont typeface="Arial"/>
              <a:buChar char="●"/>
            </a:pPr>
            <a:r>
              <a:rPr lang="en" sz="1200">
                <a:solidFill>
                  <a:srgbClr val="003359"/>
                </a:solidFill>
                <a:highlight>
                  <a:srgbClr val="F5F5F5"/>
                </a:highlight>
              </a:rPr>
              <a:t>Motivates this project's SIEM + anomaly pipeline</a:t>
            </a: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444444"/>
                </a:solidFill>
                <a:highlight>
                  <a:srgbClr val="F5F5F5"/>
                </a:highlight>
              </a:rPr>
              <a:t>​</a:t>
            </a:r>
            <a:endParaRPr sz="1200">
              <a:solidFill>
                <a:srgbClr val="444444"/>
              </a:solidFill>
              <a:highlight>
                <a:srgbClr val="F5F5F5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h1a6db61b9c0fefc6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h1a6db61b9c0fefc6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h1a6db61b9c0fefc6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h1a6db61b9c0fefc6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h1a6db61b9c0fefc6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h1a6db61b9c0fefc6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h1a6db61b9c0fefc6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h1a6db61b9c0fefc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h1a6db61b9c0fefc6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h1a6db61b9c0fefc6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1a6db61b9c0fefc6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h1a6db61b9c0fefc6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h1a6db61b9c0fefc6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h1a6db61b9c0fefc6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h1a6db61b9c0fefc6_0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h1a6db61b9c0fefc6_0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h1a6db61b9c0fefc6_0_1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h1a6db61b9c0fefc6_0_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h1a6db61b9c0fefc6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h1a6db61b9c0fefc6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h1a6db61b9c0fefc6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h1a6db61b9c0fefc6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h1a6db61b9c0fefc6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h1a6db61b9c0fefc6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h1a6db61b9c0fefc6_0_2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h1a6db61b9c0fefc6_0_2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h1a6db61b9c0fefc6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h1a6db61b9c0fefc6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h1a6db61b9c0fefc6_0_1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h1a6db61b9c0fefc6_0_1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4317" lvl="0" marL="457200" rtl="0" algn="l">
              <a:lnSpc>
                <a:spcPct val="8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50"/>
              <a:buChar char="●"/>
            </a:pPr>
            <a:r>
              <a:rPr lang="en" sz="1350">
                <a:solidFill>
                  <a:schemeClr val="dk1"/>
                </a:solidFill>
              </a:rPr>
              <a:t>Traffic made </a:t>
            </a:r>
            <a:r>
              <a:rPr b="1" lang="en" sz="1350">
                <a:solidFill>
                  <a:schemeClr val="dk1"/>
                </a:solidFill>
              </a:rPr>
              <a:t>irregular on purpose</a:t>
            </a:r>
            <a:r>
              <a:rPr lang="en" sz="1350">
                <a:solidFill>
                  <a:schemeClr val="dk1"/>
                </a:solidFill>
              </a:rPr>
              <a:t> — randomised pauses, occasional bursts, occasional pings — so the model learns realistic variation, not a fixed rhythm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h1a6db61b9c0fefc6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h1a6db61b9c0fefc6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n" sz="1700">
                <a:solidFill>
                  <a:schemeClr val="dk1"/>
                </a:solidFill>
              </a:rPr>
              <a:t>Unit of analysis: 1-second windows</a:t>
            </a:r>
            <a:r>
              <a:rPr lang="en" sz="1700">
                <a:solidFill>
                  <a:schemeClr val="dk1"/>
                </a:solidFill>
              </a:rPr>
              <a:t> — not flows, because the ICMP flood collapses to a single flow while windows give a uniform, comparable sample from every capture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n" sz="1700">
                <a:solidFill>
                  <a:schemeClr val="dk1"/>
                </a:solidFill>
              </a:rPr>
              <a:t>Unit of analysis: 1-second windows</a:t>
            </a:r>
            <a:r>
              <a:rPr lang="en" sz="1700">
                <a:solidFill>
                  <a:schemeClr val="dk1"/>
                </a:solidFill>
              </a:rPr>
              <a:t> — not flows, because the ICMP flood collapses to a single flow while windows give a uniform, comparable sample from every capture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h1a6db61b9c0fefc6_0_2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h1a6db61b9c0fefc6_0_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600"/>
              <a:buChar char="●"/>
            </a:pPr>
            <a:r>
              <a:rPr lang="en" sz="1600">
                <a:solidFill>
                  <a:srgbClr val="003359"/>
                </a:solidFill>
              </a:rPr>
              <a:t> compute mean and standard deviation of each feature over the benign training data; score each window by how many standard deviations its most-extreme feature sits from normal</a:t>
            </a:r>
            <a:endParaRPr sz="1600">
              <a:solidFill>
                <a:srgbClr val="003359"/>
              </a:solidFill>
            </a:endParaRPr>
          </a:p>
          <a:p>
            <a:pPr indent="-3302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3359"/>
              </a:buClr>
              <a:buSzPts val="1600"/>
              <a:buChar char="●"/>
            </a:pPr>
            <a:r>
              <a:rPr lang="en" sz="1600">
                <a:solidFill>
                  <a:srgbClr val="003359"/>
                </a:solidFill>
              </a:rPr>
              <a:t> compute mean and standard deviation of each feature over the benign training data; score each window by how many standard deviations its most-extreme feature sits from normal</a:t>
            </a:r>
            <a:endParaRPr sz="1600">
              <a:solidFill>
                <a:srgbClr val="003359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h1a6db61b9c0fefc6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h1a6db61b9c0fefc6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h1a6db61b9c0fefc6_0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h1a6db61b9c0fefc6_0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 2 to 3 points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h1a6db61b9c0fefc6_0_2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h1a6db61b9c0fefc6_0_2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1.png"/><Relationship Id="rId5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20975" y="376375"/>
            <a:ext cx="8271600" cy="9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80">
                <a:solidFill>
                  <a:srgbClr val="FF7900"/>
                </a:solidFill>
              </a:rPr>
              <a:t>Detection and Mitigation of O1 Interface Attacks in O-RAN Using SIEM Pipelines</a:t>
            </a:r>
            <a:endParaRPr sz="2280">
              <a:solidFill>
                <a:srgbClr val="FF7900"/>
              </a:solidFill>
            </a:endParaRPr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196475" y="91375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n" sz="1600">
                <a:solidFill>
                  <a:srgbClr val="0B5394"/>
                </a:solidFill>
              </a:rPr>
              <a:t>​</a:t>
            </a:r>
            <a:endParaRPr sz="1600">
              <a:solidFill>
                <a:srgbClr val="0B5394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sz="1600">
              <a:solidFill>
                <a:srgbClr val="0B5394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n" sz="1600">
                <a:solidFill>
                  <a:srgbClr val="0B5394"/>
                </a:solidFill>
              </a:rPr>
              <a:t>​</a:t>
            </a:r>
            <a:endParaRPr sz="1600">
              <a:solidFill>
                <a:srgbClr val="0B5394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sz="1600">
              <a:solidFill>
                <a:srgbClr val="0B5394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n" sz="1600">
                <a:solidFill>
                  <a:srgbClr val="0B5394"/>
                </a:solidFill>
              </a:rPr>
              <a:t>Author : Muhamamd Eahtesham​</a:t>
            </a:r>
            <a:endParaRPr sz="1600">
              <a:solidFill>
                <a:srgbClr val="0B5394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sz="1600">
              <a:solidFill>
                <a:srgbClr val="0B5394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n" sz="1600">
                <a:solidFill>
                  <a:srgbClr val="0B5394"/>
                </a:solidFill>
              </a:rPr>
              <a:t>Supervisor:  Manasik Hassan​</a:t>
            </a:r>
            <a:endParaRPr sz="1600">
              <a:solidFill>
                <a:srgbClr val="0B5394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sz="1600">
              <a:solidFill>
                <a:srgbClr val="0B5394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n" sz="1600">
                <a:solidFill>
                  <a:srgbClr val="0B5394"/>
                </a:solidFill>
              </a:rPr>
              <a:t>Chair: Prof. Dr.-Ing. habil. Andreas Mitschele-Thiel ​</a:t>
            </a:r>
            <a:endParaRPr sz="1600">
              <a:solidFill>
                <a:srgbClr val="0B5394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sz="1600">
              <a:solidFill>
                <a:srgbClr val="0B5394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n" sz="1600">
                <a:solidFill>
                  <a:srgbClr val="0B5394"/>
                </a:solidFill>
              </a:rPr>
              <a:t>Department: RCSE ​</a:t>
            </a:r>
            <a:endParaRPr sz="1600">
              <a:solidFill>
                <a:srgbClr val="0B5394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sz="1600">
              <a:solidFill>
                <a:srgbClr val="0B5394"/>
              </a:solidFill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n" sz="1600">
                <a:solidFill>
                  <a:srgbClr val="0B5394"/>
                </a:solidFill>
              </a:rPr>
              <a:t>Semester: Summer 2026​</a:t>
            </a:r>
            <a:endParaRPr sz="1600">
              <a:solidFill>
                <a:srgbClr val="0B5394"/>
              </a:solidFill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175" y="4431550"/>
            <a:ext cx="8839200" cy="711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219800" y="2219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>
                <a:solidFill>
                  <a:srgbClr val="FF9900"/>
                </a:solidFill>
              </a:rPr>
              <a:t>Motivation</a:t>
            </a:r>
            <a:endParaRPr>
              <a:solidFill>
                <a:srgbClr val="FF99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800">
              <a:solidFill>
                <a:srgbClr val="003359"/>
              </a:solidFill>
            </a:endParaRPr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219800" y="794675"/>
            <a:ext cx="5609700" cy="327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3359"/>
              </a:buClr>
              <a:buSzPts val="1600"/>
              <a:buChar char="●"/>
            </a:pPr>
            <a:r>
              <a:rPr lang="en" spc="-1" sz="1600">
                <a:solidFill>
                  <a:srgbClr val="003359"/>
                </a:solidFill>
                <a:highlight>
                  <a:schemeClr val="lt1"/>
                </a:highlight>
              </a:rPr>
              <a:t>DDoS attacks have reached record scale (2025–26)​</a:t>
            </a:r>
            <a:endParaRPr spc="-1" sz="1600">
              <a:solidFill>
                <a:srgbClr val="003359"/>
              </a:solidFill>
              <a:highlight>
                <a:schemeClr val="lt1"/>
              </a:highlight>
            </a:endParaRPr>
          </a:p>
          <a:p>
            <a:pPr indent="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pc="-1" sz="1600">
              <a:solidFill>
                <a:srgbClr val="003359"/>
              </a:solidFill>
              <a:highlight>
                <a:schemeClr val="lt1"/>
              </a:highlight>
            </a:endParaRPr>
          </a:p>
          <a:p>
            <a:pPr indent="-33020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600"/>
              <a:buChar char="●"/>
            </a:pPr>
            <a:r>
              <a:rPr lang="en" spc="-1" sz="1600">
                <a:solidFill>
                  <a:srgbClr val="003359"/>
                </a:solidFill>
                <a:highlight>
                  <a:schemeClr val="lt1"/>
                </a:highlight>
              </a:rPr>
              <a:t>Record volumetric bursts: 31.4 Tbps (Cloudflare), 15.7 Tbps / 3.6 Bpps (Azure)​</a:t>
            </a:r>
            <a:endParaRPr spc="-1" sz="1600">
              <a:solidFill>
                <a:srgbClr val="003359"/>
              </a:solidFill>
              <a:highlight>
                <a:schemeClr val="lt1"/>
              </a:highlight>
            </a:endParaRPr>
          </a:p>
          <a:p>
            <a:pPr indent="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pc="-1" sz="1600">
              <a:solidFill>
                <a:srgbClr val="003359"/>
              </a:solidFill>
              <a:highlight>
                <a:schemeClr val="lt1"/>
              </a:highlight>
            </a:endParaRPr>
          </a:p>
          <a:p>
            <a:pPr indent="-33020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600"/>
              <a:buChar char="●"/>
            </a:pPr>
            <a:r>
              <a:rPr lang="en" spc="-1" sz="1600">
                <a:solidFill>
                  <a:srgbClr val="003359"/>
                </a:solidFill>
                <a:highlight>
                  <a:schemeClr val="lt1"/>
                </a:highlight>
              </a:rPr>
              <a:t>Peak bandwidth +85% YoY, packet rate +56% — driven by IoT super-botnets of millions of device</a:t>
            </a:r>
            <a:endParaRPr spc="-1" sz="1600">
              <a:solidFill>
                <a:srgbClr val="003359"/>
              </a:solidFill>
              <a:highlight>
                <a:schemeClr val="lt1"/>
              </a:highlight>
            </a:endParaRPr>
          </a:p>
          <a:p>
            <a:pPr indent="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pc="-1" sz="1600">
              <a:solidFill>
                <a:srgbClr val="003359"/>
              </a:solidFill>
              <a:highlight>
                <a:schemeClr val="lt1"/>
              </a:highlight>
            </a:endParaRPr>
          </a:p>
          <a:p>
            <a:pPr indent="-33020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600"/>
              <a:buChar char="●"/>
            </a:pPr>
            <a:r>
              <a:rPr lang="en" spc="-1" sz="1600">
                <a:solidFill>
                  <a:srgbClr val="003359"/>
                </a:solidFill>
                <a:highlight>
                  <a:schemeClr val="lt1"/>
                </a:highlight>
              </a:rPr>
              <a:t>Cover for stealth intrusion; telecom is a top-targeted sector​	</a:t>
            </a:r>
            <a:endParaRPr spc="-1" sz="1600">
              <a:solidFill>
                <a:srgbClr val="003359"/>
              </a:solidFill>
              <a:highlight>
                <a:schemeClr val="lt1"/>
              </a:highlight>
            </a:endParaRPr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29475" y="1194649"/>
            <a:ext cx="3053650" cy="1113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29475" y="2639075"/>
            <a:ext cx="3002825" cy="14974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7525" y="4412355"/>
            <a:ext cx="9143998" cy="731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80">
                <a:solidFill>
                  <a:srgbClr val="003359"/>
                </a:solidFill>
                <a:highlight>
                  <a:srgbClr val="FFFFFF"/>
                </a:highlight>
              </a:rPr>
              <a:t>Why this matters for O-RAN​</a:t>
            </a:r>
            <a:endParaRPr sz="1980">
              <a:solidFill>
                <a:srgbClr val="003359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980">
              <a:solidFill>
                <a:srgbClr val="003359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980">
                <a:solidFill>
                  <a:srgbClr val="003359"/>
                </a:solidFill>
                <a:highlight>
                  <a:srgbClr val="FFFFFF"/>
                </a:highlight>
              </a:rPr>
              <a:t>What this project targets​</a:t>
            </a:r>
            <a:endParaRPr sz="1980">
              <a:solidFill>
                <a:srgbClr val="003359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980">
              <a:solidFill>
                <a:srgbClr val="003359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980">
                <a:solidFill>
                  <a:srgbClr val="003359"/>
                </a:solidFill>
                <a:highlight>
                  <a:srgbClr val="FFFFFF"/>
                </a:highlight>
              </a:rPr>
              <a:t>Why detection must evolve​</a:t>
            </a:r>
            <a:endParaRPr sz="1980">
              <a:solidFill>
                <a:srgbClr val="003359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980">
              <a:solidFill>
                <a:srgbClr val="003359"/>
              </a:solidFill>
              <a:highlight>
                <a:srgbClr val="FFFFFF"/>
              </a:highlight>
            </a:endParaRPr>
          </a:p>
        </p:txBody>
      </p:sp>
      <p:pic>
        <p:nvPicPr>
          <p:cNvPr id="71" name="Google Shape;7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50" y="4436725"/>
            <a:ext cx="8839199" cy="7067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>
            <p:ph type="title"/>
          </p:nvPr>
        </p:nvSpPr>
        <p:spPr>
          <a:xfrm>
            <a:off x="218775" y="33838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820">
                <a:solidFill>
                  <a:srgbClr val="FF9900"/>
                </a:solidFill>
              </a:rPr>
              <a:t>Architecture </a:t>
            </a:r>
            <a:endParaRPr sz="2820">
              <a:solidFill>
                <a:srgbClr val="FF9900"/>
              </a:solidFill>
            </a:endParaRPr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525" y="4412355"/>
            <a:ext cx="9143998" cy="731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3359"/>
                </a:solidFill>
              </a:rPr>
              <a:t>T</a:t>
            </a:r>
            <a:r>
              <a:rPr lang="en">
                <a:solidFill>
                  <a:srgbClr val="003359"/>
                </a:solidFill>
              </a:rPr>
              <a:t>he O1 interface</a:t>
            </a:r>
            <a:endParaRPr>
              <a:solidFill>
                <a:srgbClr val="003359"/>
              </a:solidFill>
            </a:endParaRPr>
          </a:p>
        </p:txBody>
      </p:sp>
      <p:pic>
        <p:nvPicPr>
          <p:cNvPr id="83" name="Google Shape;8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4500" y="1326675"/>
            <a:ext cx="8855002" cy="268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525" y="4412355"/>
            <a:ext cx="9143998" cy="731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275650" y="2558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3359"/>
                </a:solidFill>
              </a:rPr>
              <a:t>DDoS Threat Simulation</a:t>
            </a:r>
            <a:endParaRPr>
              <a:solidFill>
                <a:srgbClr val="003359"/>
              </a:solidFill>
            </a:endParaRPr>
          </a:p>
        </p:txBody>
      </p:sp>
      <p:pic>
        <p:nvPicPr>
          <p:cNvPr id="90" name="Google Shape;9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699" y="1102050"/>
            <a:ext cx="8107303" cy="356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525" y="4412355"/>
            <a:ext cx="9143998" cy="731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>
            <p:ph type="title"/>
          </p:nvPr>
        </p:nvSpPr>
        <p:spPr>
          <a:xfrm>
            <a:off x="69125" y="368700"/>
            <a:ext cx="8763300" cy="6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44">
                <a:solidFill>
                  <a:srgbClr val="003359"/>
                </a:solidFill>
              </a:rPr>
              <a:t>     </a:t>
            </a:r>
            <a:r>
              <a:rPr lang="en" sz="2244">
                <a:solidFill>
                  <a:srgbClr val="003359"/>
                </a:solidFill>
              </a:rPr>
              <a:t>T</a:t>
            </a:r>
            <a:r>
              <a:rPr lang="en" sz="2244">
                <a:solidFill>
                  <a:srgbClr val="003359"/>
                </a:solidFill>
              </a:rPr>
              <a:t>he detection pipeline</a:t>
            </a:r>
            <a:r>
              <a:rPr lang="en">
                <a:solidFill>
                  <a:srgbClr val="003359"/>
                </a:solidFill>
              </a:rPr>
              <a:t>                 			</a:t>
            </a:r>
            <a:r>
              <a:rPr lang="en" sz="2133">
                <a:solidFill>
                  <a:srgbClr val="003359"/>
                </a:solidFill>
              </a:rPr>
              <a:t>Defending the infrastructure</a:t>
            </a:r>
            <a:endParaRPr sz="2133">
              <a:solidFill>
                <a:srgbClr val="00335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3359"/>
              </a:solidFill>
            </a:endParaRPr>
          </a:p>
        </p:txBody>
      </p:sp>
      <p:pic>
        <p:nvPicPr>
          <p:cNvPr id="97" name="Google Shape;9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523" y="1194650"/>
            <a:ext cx="4648125" cy="3160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65751" y="1349176"/>
            <a:ext cx="3545775" cy="2445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7525" y="4412355"/>
            <a:ext cx="9143998" cy="731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 txBox="1"/>
          <p:nvPr>
            <p:ph idx="1" type="body"/>
          </p:nvPr>
        </p:nvSpPr>
        <p:spPr>
          <a:xfrm>
            <a:off x="140925" y="433925"/>
            <a:ext cx="4802400" cy="447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3359"/>
                </a:solidFill>
              </a:rPr>
              <a:t>Monitoring stack (Wazuh 4.7.3, single-node)</a:t>
            </a:r>
            <a:endParaRPr b="1">
              <a:solidFill>
                <a:srgbClr val="003359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t/>
            </a:r>
            <a:endParaRPr b="1">
              <a:solidFill>
                <a:srgbClr val="003359"/>
              </a:solidFill>
            </a:endParaRPr>
          </a:p>
          <a:p>
            <a:pPr indent="-334328" lvl="0" marL="457200" rtl="0" algn="l"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ct val="100000"/>
              <a:buChar char="-"/>
            </a:pPr>
            <a:r>
              <a:rPr lang="en">
                <a:solidFill>
                  <a:srgbClr val="003359"/>
                </a:solidFill>
              </a:rPr>
              <a:t>Wazuh manager, indexer, and dashboard</a:t>
            </a:r>
            <a:endParaRPr>
              <a:solidFill>
                <a:srgbClr val="003359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3359"/>
              </a:solidFill>
            </a:endParaRPr>
          </a:p>
          <a:p>
            <a:pPr indent="-334328" lvl="0" marL="457200" rtl="0" algn="l"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ct val="100000"/>
              <a:buChar char="-"/>
            </a:pPr>
            <a:r>
              <a:rPr lang="en">
                <a:solidFill>
                  <a:srgbClr val="003359"/>
                </a:solidFill>
              </a:rPr>
              <a:t>Suricata installed as a process inside the Wazuh manager — the network sensor</a:t>
            </a:r>
            <a:endParaRPr>
              <a:solidFill>
                <a:srgbClr val="003359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3359"/>
              </a:solidFill>
            </a:endParaRPr>
          </a:p>
          <a:p>
            <a:pPr indent="-334328" lvl="0" marL="457200" rtl="0" algn="l"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ct val="100000"/>
              <a:buChar char="-"/>
            </a:pPr>
            <a:r>
              <a:rPr lang="en">
                <a:solidFill>
                  <a:srgbClr val="003359"/>
                </a:solidFill>
              </a:rPr>
              <a:t>Runs alongside the O-RAN stack, observing its traffic without being part of it</a:t>
            </a:r>
            <a:endParaRPr>
              <a:solidFill>
                <a:srgbClr val="003359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t/>
            </a:r>
            <a:endParaRPr>
              <a:solidFill>
                <a:srgbClr val="003359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003359"/>
              </a:solidFill>
            </a:endParaRPr>
          </a:p>
        </p:txBody>
      </p:sp>
      <p:pic>
        <p:nvPicPr>
          <p:cNvPr id="105" name="Google Shape;10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6125" y="217825"/>
            <a:ext cx="4030449" cy="2074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20"/>
          <p:cNvPicPr preferRelativeResize="0"/>
          <p:nvPr/>
        </p:nvPicPr>
        <p:blipFill rotWithShape="1">
          <a:blip r:embed="rId4">
            <a:alphaModFix/>
          </a:blip>
          <a:srcRect b="0" l="0" r="0" t="2401"/>
          <a:stretch/>
        </p:blipFill>
        <p:spPr>
          <a:xfrm>
            <a:off x="4961800" y="2533209"/>
            <a:ext cx="4199100" cy="17713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7525" y="4412355"/>
            <a:ext cx="9143998" cy="731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227025" y="33766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9900"/>
                </a:solidFill>
              </a:rPr>
              <a:t>Methodology</a:t>
            </a:r>
            <a:endParaRPr>
              <a:solidFill>
                <a:srgbClr val="FF9900"/>
              </a:solidFill>
            </a:endParaRPr>
          </a:p>
        </p:txBody>
      </p:sp>
      <p:pic>
        <p:nvPicPr>
          <p:cNvPr id="113" name="Google Shape;113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525" y="4412355"/>
            <a:ext cx="9143998" cy="731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2"/>
          <p:cNvSpPr txBox="1"/>
          <p:nvPr>
            <p:ph type="title"/>
          </p:nvPr>
        </p:nvSpPr>
        <p:spPr>
          <a:xfrm>
            <a:off x="311700" y="2614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3359"/>
                </a:solidFill>
              </a:rPr>
              <a:t>ICMP Flood</a:t>
            </a:r>
            <a:endParaRPr>
              <a:solidFill>
                <a:srgbClr val="00335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3359"/>
              </a:solidFill>
            </a:endParaRPr>
          </a:p>
        </p:txBody>
      </p:sp>
      <p:pic>
        <p:nvPicPr>
          <p:cNvPr id="119" name="Google Shape;11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1200" y="834126"/>
            <a:ext cx="7735125" cy="11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4755" y="1954125"/>
            <a:ext cx="5637996" cy="31893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1" name="Google Shape;121;p22"/>
          <p:cNvCxnSpPr/>
          <p:nvPr/>
        </p:nvCxnSpPr>
        <p:spPr>
          <a:xfrm>
            <a:off x="311700" y="1664600"/>
            <a:ext cx="1156500" cy="4500"/>
          </a:xfrm>
          <a:prstGeom prst="straightConnector1">
            <a:avLst/>
          </a:prstGeom>
          <a:noFill/>
          <a:ln cap="flat" cmpd="sng" w="19050">
            <a:solidFill>
              <a:srgbClr val="00FF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2" name="Google Shape;122;p22"/>
          <p:cNvCxnSpPr/>
          <p:nvPr/>
        </p:nvCxnSpPr>
        <p:spPr>
          <a:xfrm>
            <a:off x="311700" y="1517250"/>
            <a:ext cx="897600" cy="11400"/>
          </a:xfrm>
          <a:prstGeom prst="straightConnector1">
            <a:avLst/>
          </a:prstGeom>
          <a:noFill/>
          <a:ln cap="flat" cmpd="sng" w="19050">
            <a:solidFill>
              <a:srgbClr val="00FF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3"/>
          <p:cNvSpPr txBox="1"/>
          <p:nvPr>
            <p:ph type="title"/>
          </p:nvPr>
        </p:nvSpPr>
        <p:spPr>
          <a:xfrm>
            <a:off x="311700" y="2017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3359"/>
                </a:solidFill>
              </a:rPr>
              <a:t>UDP Flood</a:t>
            </a:r>
            <a:endParaRPr>
              <a:solidFill>
                <a:srgbClr val="003359"/>
              </a:solidFill>
            </a:endParaRPr>
          </a:p>
        </p:txBody>
      </p:sp>
      <p:pic>
        <p:nvPicPr>
          <p:cNvPr id="128" name="Google Shape;12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675" y="774400"/>
            <a:ext cx="7819474" cy="12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3850" y="2017725"/>
            <a:ext cx="5562574" cy="312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0" name="Google Shape;130;p23"/>
          <p:cNvCxnSpPr/>
          <p:nvPr/>
        </p:nvCxnSpPr>
        <p:spPr>
          <a:xfrm>
            <a:off x="376750" y="1914350"/>
            <a:ext cx="1156500" cy="4500"/>
          </a:xfrm>
          <a:prstGeom prst="straightConnector1">
            <a:avLst/>
          </a:prstGeom>
          <a:noFill/>
          <a:ln cap="flat" cmpd="sng" w="19050">
            <a:solidFill>
              <a:srgbClr val="00FF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1" name="Google Shape;131;p23"/>
          <p:cNvCxnSpPr/>
          <p:nvPr/>
        </p:nvCxnSpPr>
        <p:spPr>
          <a:xfrm>
            <a:off x="376750" y="1706350"/>
            <a:ext cx="1156500" cy="4500"/>
          </a:xfrm>
          <a:prstGeom prst="straightConnector1">
            <a:avLst/>
          </a:prstGeom>
          <a:noFill/>
          <a:ln cap="flat" cmpd="sng" w="19050">
            <a:solidFill>
              <a:srgbClr val="00FF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4"/>
          <p:cNvSpPr txBox="1"/>
          <p:nvPr>
            <p:ph type="title"/>
          </p:nvPr>
        </p:nvSpPr>
        <p:spPr>
          <a:xfrm>
            <a:off x="311700" y="2402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3359"/>
                </a:solidFill>
              </a:rPr>
              <a:t>TLS Flood</a:t>
            </a:r>
            <a:endParaRPr>
              <a:solidFill>
                <a:srgbClr val="003359"/>
              </a:solidFill>
            </a:endParaRPr>
          </a:p>
        </p:txBody>
      </p:sp>
      <p:pic>
        <p:nvPicPr>
          <p:cNvPr id="137" name="Google Shape;13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5400" y="1314750"/>
            <a:ext cx="4110101" cy="336582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8" name="Google Shape;138;p24"/>
          <p:cNvCxnSpPr/>
          <p:nvPr/>
        </p:nvCxnSpPr>
        <p:spPr>
          <a:xfrm>
            <a:off x="3041850" y="4664675"/>
            <a:ext cx="815400" cy="15900"/>
          </a:xfrm>
          <a:prstGeom prst="straightConnector1">
            <a:avLst/>
          </a:prstGeom>
          <a:noFill/>
          <a:ln cap="flat" cmpd="sng" w="28575">
            <a:solidFill>
              <a:srgbClr val="00FF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39" name="Google Shape;139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89575" y="1298850"/>
            <a:ext cx="4363474" cy="336582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0" name="Google Shape;140;p24"/>
          <p:cNvCxnSpPr/>
          <p:nvPr/>
        </p:nvCxnSpPr>
        <p:spPr>
          <a:xfrm>
            <a:off x="8141125" y="4664675"/>
            <a:ext cx="815400" cy="15900"/>
          </a:xfrm>
          <a:prstGeom prst="straightConnector1">
            <a:avLst/>
          </a:prstGeom>
          <a:noFill/>
          <a:ln cap="flat" cmpd="sng" w="28575">
            <a:solidFill>
              <a:srgbClr val="00FF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1" name="Google Shape;141;p24"/>
          <p:cNvSpPr txBox="1"/>
          <p:nvPr/>
        </p:nvSpPr>
        <p:spPr>
          <a:xfrm>
            <a:off x="355400" y="856074"/>
            <a:ext cx="6705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SYNs – ~6,500                                                           </a:t>
            </a:r>
            <a:r>
              <a:rPr lang="en" sz="1500">
                <a:solidFill>
                  <a:schemeClr val="dk1"/>
                </a:solidFill>
              </a:rPr>
              <a:t>SYN-ACKs – ~950</a:t>
            </a:r>
            <a:endParaRPr sz="15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420">
                <a:solidFill>
                  <a:srgbClr val="003359"/>
                </a:solidFill>
              </a:rPr>
              <a:t>The SIEM detection pipeline with signature-based detection</a:t>
            </a:r>
            <a:endParaRPr sz="2420">
              <a:solidFill>
                <a:srgbClr val="003359"/>
              </a:solidFill>
            </a:endParaRPr>
          </a:p>
        </p:txBody>
      </p:sp>
      <p:sp>
        <p:nvSpPr>
          <p:cNvPr id="147" name="Google Shape;147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"/>
              <a:buFont typeface="Arial"/>
              <a:buNone/>
            </a:pPr>
            <a:r>
              <a:rPr b="1" lang="en" sz="4850">
                <a:solidFill>
                  <a:srgbClr val="003359"/>
                </a:solidFill>
              </a:rPr>
              <a:t>Pipeline overview</a:t>
            </a:r>
            <a:endParaRPr b="1" sz="4850">
              <a:solidFill>
                <a:srgbClr val="003359"/>
              </a:solidFill>
            </a:endParaRPr>
          </a:p>
          <a:p>
            <a:pPr indent="-351794" lvl="0" marL="457200" rtl="0" algn="l"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ct val="100000"/>
              <a:buChar char="●"/>
            </a:pPr>
            <a:r>
              <a:rPr lang="en" sz="4850">
                <a:solidFill>
                  <a:srgbClr val="003359"/>
                </a:solidFill>
              </a:rPr>
              <a:t>Goal: turn raw O1 attack traffic into actionable alerts an analyst can see</a:t>
            </a:r>
            <a:endParaRPr sz="4850">
              <a:solidFill>
                <a:srgbClr val="003359"/>
              </a:solidFill>
            </a:endParaRPr>
          </a:p>
          <a:p>
            <a:pPr indent="-351794" lvl="0" marL="457200" rtl="0" algn="l">
              <a:spcBef>
                <a:spcPts val="0"/>
              </a:spcBef>
              <a:spcAft>
                <a:spcPts val="0"/>
              </a:spcAft>
              <a:buClr>
                <a:srgbClr val="003359"/>
              </a:buClr>
              <a:buSzPct val="100000"/>
              <a:buChar char="●"/>
            </a:pPr>
            <a:r>
              <a:rPr lang="en" sz="4850">
                <a:solidFill>
                  <a:srgbClr val="003359"/>
                </a:solidFill>
              </a:rPr>
              <a:t>Four stages: capture → detect (Suricata) → forward (Wazuh agent) → store &amp; visualise (indexer + dashboard)</a:t>
            </a:r>
            <a:endParaRPr sz="4850">
              <a:solidFill>
                <a:srgbClr val="003359"/>
              </a:solidFill>
            </a:endParaRPr>
          </a:p>
          <a:p>
            <a:pPr indent="-351794" lvl="0" marL="457200" rtl="0" algn="l">
              <a:spcBef>
                <a:spcPts val="0"/>
              </a:spcBef>
              <a:spcAft>
                <a:spcPts val="0"/>
              </a:spcAft>
              <a:buClr>
                <a:srgbClr val="003359"/>
              </a:buClr>
              <a:buSzPct val="100000"/>
              <a:buChar char="●"/>
            </a:pPr>
            <a:r>
              <a:rPr lang="en" sz="4850">
                <a:solidFill>
                  <a:srgbClr val="003359"/>
                </a:solidFill>
              </a:rPr>
              <a:t>Suricata runs as a process </a:t>
            </a:r>
            <a:r>
              <a:rPr i="1" lang="en" sz="4850">
                <a:solidFill>
                  <a:srgbClr val="003359"/>
                </a:solidFill>
              </a:rPr>
              <a:t>inside</a:t>
            </a:r>
            <a:r>
              <a:rPr lang="en" sz="4850">
                <a:solidFill>
                  <a:srgbClr val="003359"/>
                </a:solidFill>
              </a:rPr>
              <a:t> the Wazuh manager</a:t>
            </a:r>
            <a:endParaRPr sz="4850">
              <a:solidFill>
                <a:srgbClr val="003359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4850">
                <a:solidFill>
                  <a:srgbClr val="003359"/>
                </a:solidFill>
              </a:rPr>
              <a:t>Traffic ingestion</a:t>
            </a:r>
            <a:endParaRPr b="1" sz="4850">
              <a:solidFill>
                <a:srgbClr val="003359"/>
              </a:solidFill>
            </a:endParaRPr>
          </a:p>
          <a:p>
            <a:pPr indent="-351794" lvl="0" marL="457200" rtl="0" algn="l"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ct val="100000"/>
              <a:buChar char="●"/>
            </a:pPr>
            <a:r>
              <a:rPr lang="en" sz="4850">
                <a:solidFill>
                  <a:srgbClr val="003359"/>
                </a:solidFill>
              </a:rPr>
              <a:t>Attack and O1 traffic captured to pcap on the O-DU's dcn interface</a:t>
            </a:r>
            <a:endParaRPr sz="4850">
              <a:solidFill>
                <a:srgbClr val="003359"/>
              </a:solidFill>
            </a:endParaRPr>
          </a:p>
          <a:p>
            <a:pPr indent="-351794" lvl="0" marL="457200" rtl="0" algn="l">
              <a:spcBef>
                <a:spcPts val="0"/>
              </a:spcBef>
              <a:spcAft>
                <a:spcPts val="0"/>
              </a:spcAft>
              <a:buClr>
                <a:srgbClr val="003359"/>
              </a:buClr>
              <a:buSzPct val="100000"/>
              <a:buChar char="●"/>
            </a:pPr>
            <a:r>
              <a:rPr lang="en" sz="4850">
                <a:solidFill>
                  <a:srgbClr val="003359"/>
                </a:solidFill>
                <a:latin typeface="Roboto Mono"/>
                <a:ea typeface="Roboto Mono"/>
                <a:cs typeface="Roboto Mono"/>
                <a:sym typeface="Roboto Mono"/>
              </a:rPr>
              <a:t>suricata -r &lt;pcap&gt;</a:t>
            </a:r>
            <a:endParaRPr sz="4850">
              <a:solidFill>
                <a:srgbClr val="003359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003359"/>
              </a:solidFill>
            </a:endParaRPr>
          </a:p>
        </p:txBody>
      </p:sp>
      <p:pic>
        <p:nvPicPr>
          <p:cNvPr id="148" name="Google Shape;148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525" y="4412355"/>
            <a:ext cx="9143998" cy="731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248200" y="750300"/>
            <a:ext cx="8762100" cy="42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4850">
                <a:solidFill>
                  <a:srgbClr val="003359"/>
                </a:solidFill>
              </a:rPr>
              <a:t>Suricata — detection engine</a:t>
            </a:r>
            <a:endParaRPr b="1" sz="4850">
              <a:solidFill>
                <a:srgbClr val="003359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"/>
              <a:buFont typeface="Arial"/>
              <a:buNone/>
            </a:pPr>
            <a:r>
              <a:t/>
            </a:r>
            <a:endParaRPr b="1" sz="4850">
              <a:solidFill>
                <a:srgbClr val="003359"/>
              </a:solidFill>
            </a:endParaRPr>
          </a:p>
          <a:p>
            <a:pPr indent="-325747" lvl="0" marL="457200" rtl="0" algn="l"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ct val="100000"/>
              <a:buChar char="●"/>
            </a:pPr>
            <a:r>
              <a:rPr lang="en" sz="3825">
                <a:solidFill>
                  <a:srgbClr val="003359"/>
                </a:solidFill>
              </a:rPr>
              <a:t>Reads the pcap and matches traffic against a ruleset</a:t>
            </a:r>
            <a:endParaRPr sz="3825">
              <a:solidFill>
                <a:srgbClr val="003359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825">
              <a:solidFill>
                <a:srgbClr val="003359"/>
              </a:solidFill>
            </a:endParaRPr>
          </a:p>
          <a:p>
            <a:pPr indent="-325747" lvl="0" marL="457200" rtl="0" algn="l"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ct val="100000"/>
              <a:buChar char="●"/>
            </a:pPr>
            <a:r>
              <a:rPr lang="en" sz="3825">
                <a:solidFill>
                  <a:srgbClr val="003359"/>
                </a:solidFill>
              </a:rPr>
              <a:t>Custom rules, stored in </a:t>
            </a:r>
            <a:r>
              <a:rPr lang="en" sz="3825">
                <a:solidFill>
                  <a:srgbClr val="003359"/>
                </a:solidFill>
                <a:latin typeface="Roboto Mono"/>
                <a:ea typeface="Roboto Mono"/>
                <a:cs typeface="Roboto Mono"/>
                <a:sym typeface="Roboto Mono"/>
              </a:rPr>
              <a:t>oran-custom.rules</a:t>
            </a:r>
            <a:r>
              <a:rPr lang="en" sz="3825">
                <a:solidFill>
                  <a:srgbClr val="003359"/>
                </a:solidFill>
              </a:rPr>
              <a:t>, registered under </a:t>
            </a:r>
            <a:r>
              <a:rPr lang="en" sz="3825">
                <a:solidFill>
                  <a:srgbClr val="003359"/>
                </a:solidFill>
                <a:latin typeface="Roboto Mono"/>
                <a:ea typeface="Roboto Mono"/>
                <a:cs typeface="Roboto Mono"/>
                <a:sym typeface="Roboto Mono"/>
              </a:rPr>
              <a:t>suricata.yaml</a:t>
            </a:r>
            <a:endParaRPr sz="3825">
              <a:solidFill>
                <a:srgbClr val="00335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825">
              <a:solidFill>
                <a:srgbClr val="00335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325747" lvl="0" marL="457200" rtl="0" algn="l"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ct val="100000"/>
              <a:buChar char="●"/>
            </a:pPr>
            <a:r>
              <a:rPr lang="en" sz="3825">
                <a:solidFill>
                  <a:srgbClr val="003359"/>
                </a:solidFill>
              </a:rPr>
              <a:t>Alerts written as JSON to </a:t>
            </a:r>
            <a:r>
              <a:rPr lang="en" sz="3825">
                <a:solidFill>
                  <a:srgbClr val="003359"/>
                </a:solidFill>
                <a:latin typeface="Roboto Mono"/>
                <a:ea typeface="Roboto Mono"/>
                <a:cs typeface="Roboto Mono"/>
                <a:sym typeface="Roboto Mono"/>
              </a:rPr>
              <a:t>eve.json</a:t>
            </a:r>
            <a:endParaRPr sz="3825">
              <a:solidFill>
                <a:srgbClr val="00335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4850">
              <a:solidFill>
                <a:srgbClr val="00335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4850">
              <a:solidFill>
                <a:srgbClr val="00335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003359"/>
              </a:solidFill>
            </a:endParaRPr>
          </a:p>
        </p:txBody>
      </p:sp>
      <p:pic>
        <p:nvPicPr>
          <p:cNvPr id="154" name="Google Shape;154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525" y="4412355"/>
            <a:ext cx="9143998" cy="731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 txBox="1"/>
          <p:nvPr>
            <p:ph idx="1" type="body"/>
          </p:nvPr>
        </p:nvSpPr>
        <p:spPr>
          <a:xfrm>
            <a:off x="169375" y="758350"/>
            <a:ext cx="8830200" cy="404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3359"/>
                </a:solidFill>
              </a:rPr>
              <a:t>Three custom signatures:</a:t>
            </a:r>
            <a:endParaRPr sz="1600">
              <a:solidFill>
                <a:srgbClr val="003359"/>
              </a:solidFill>
            </a:endParaRPr>
          </a:p>
          <a:p>
            <a:pPr indent="-330200" lvl="1" marL="9144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600"/>
              <a:buChar char="○"/>
            </a:pPr>
            <a:r>
              <a:rPr lang="en" sz="1600">
                <a:solidFill>
                  <a:srgbClr val="003359"/>
                </a:solidFill>
              </a:rPr>
              <a:t>UDP flood </a:t>
            </a:r>
            <a:endParaRPr sz="1600">
              <a:solidFill>
                <a:srgbClr val="003359"/>
              </a:solidFill>
            </a:endParaRPr>
          </a:p>
          <a:p>
            <a:pPr indent="0" lvl="0" marL="9144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3359"/>
                </a:solidFill>
              </a:rPr>
              <a:t>alert udp any any -&gt; any 6513 (msg:"O1 Interface UDP Flood - T-SMO"; threshold: type both, track by_dst, count 100, seconds 1; sid:1000001; rev:1;)</a:t>
            </a:r>
            <a:endParaRPr sz="1600">
              <a:solidFill>
                <a:srgbClr val="003359"/>
              </a:solidFill>
            </a:endParaRPr>
          </a:p>
          <a:p>
            <a:pPr indent="-330200" lvl="1" marL="9144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600"/>
              <a:buChar char="○"/>
            </a:pPr>
            <a:r>
              <a:rPr lang="en" sz="1600">
                <a:solidFill>
                  <a:srgbClr val="003359"/>
                </a:solidFill>
              </a:rPr>
              <a:t>TLS handshake flood</a:t>
            </a:r>
            <a:endParaRPr sz="1600">
              <a:solidFill>
                <a:srgbClr val="00335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45720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600">
                <a:solidFill>
                  <a:srgbClr val="003359"/>
                </a:solidFill>
              </a:rPr>
              <a:t>alert tcp any any -&gt; any 6513 (msg:"ORAN_T-SMO TLS handshake flood detected"; flow:to_server; content:"|16 03|"; depth:2; threshold:type threshold, track by_src, count 100, seconds 5; classtype:attempted-dos; sid:1000002; rev:1;)</a:t>
            </a:r>
            <a:endParaRPr sz="1600">
              <a:solidFill>
                <a:srgbClr val="00335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330200" lvl="1" marL="9144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600"/>
              <a:buChar char="○"/>
            </a:pPr>
            <a:r>
              <a:rPr lang="en" sz="1600">
                <a:solidFill>
                  <a:srgbClr val="003359"/>
                </a:solidFill>
              </a:rPr>
              <a:t>ICMP flood</a:t>
            </a:r>
            <a:endParaRPr sz="1600">
              <a:solidFill>
                <a:srgbClr val="003359"/>
              </a:solidFill>
            </a:endParaRPr>
          </a:p>
          <a:p>
            <a:pPr indent="45720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3359"/>
                </a:solidFill>
              </a:rPr>
              <a:t>alert icmp 172.21.0.0/16 any -&gt; 172.21.0.7 any (msg:"ORAN T-SMO-03 ICMP flood on O1 interface O-DU"; itype:8;  dsize:&gt;1000; threshold: type threshold, track by_src, count 100, seconds 1; classtype:attempted-dos;sid:1000003;rev:1;)</a:t>
            </a:r>
            <a:endParaRPr sz="1600">
              <a:solidFill>
                <a:srgbClr val="003359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275"/>
              <a:buNone/>
            </a:pPr>
            <a:r>
              <a:t/>
            </a:r>
            <a:endParaRPr sz="850">
              <a:solidFill>
                <a:srgbClr val="003359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8"/>
          <p:cNvSpPr txBox="1"/>
          <p:nvPr>
            <p:ph type="title"/>
          </p:nvPr>
        </p:nvSpPr>
        <p:spPr>
          <a:xfrm>
            <a:off x="191275" y="302700"/>
            <a:ext cx="7628400" cy="41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solidFill>
                  <a:srgbClr val="003359"/>
                </a:solidFill>
              </a:rPr>
              <a:t>Wazuh Dashboard Results</a:t>
            </a:r>
            <a:endParaRPr sz="2020">
              <a:solidFill>
                <a:srgbClr val="003359"/>
              </a:solidFill>
            </a:endParaRPr>
          </a:p>
        </p:txBody>
      </p:sp>
      <p:pic>
        <p:nvPicPr>
          <p:cNvPr id="165" name="Google Shape;165;p28"/>
          <p:cNvPicPr preferRelativeResize="0"/>
          <p:nvPr/>
        </p:nvPicPr>
        <p:blipFill rotWithShape="1">
          <a:blip r:embed="rId3">
            <a:alphaModFix/>
          </a:blip>
          <a:srcRect b="40345" l="0" r="0" t="0"/>
          <a:stretch/>
        </p:blipFill>
        <p:spPr>
          <a:xfrm>
            <a:off x="274775" y="1219200"/>
            <a:ext cx="8869227" cy="1016075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8"/>
          <p:cNvSpPr txBox="1"/>
          <p:nvPr/>
        </p:nvSpPr>
        <p:spPr>
          <a:xfrm>
            <a:off x="3056450" y="788100"/>
            <a:ext cx="156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3359"/>
                </a:solidFill>
              </a:rPr>
              <a:t>TLS Detection</a:t>
            </a:r>
            <a:endParaRPr>
              <a:solidFill>
                <a:srgbClr val="003359"/>
              </a:solidFill>
            </a:endParaRPr>
          </a:p>
        </p:txBody>
      </p:sp>
      <p:pic>
        <p:nvPicPr>
          <p:cNvPr id="167" name="Google Shape;167;p28"/>
          <p:cNvPicPr preferRelativeResize="0"/>
          <p:nvPr/>
        </p:nvPicPr>
        <p:blipFill rotWithShape="1">
          <a:blip r:embed="rId4">
            <a:alphaModFix/>
          </a:blip>
          <a:srcRect b="63587" l="0" r="0" t="5786"/>
          <a:stretch/>
        </p:blipFill>
        <p:spPr>
          <a:xfrm>
            <a:off x="337125" y="2635475"/>
            <a:ext cx="8031000" cy="108235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8"/>
          <p:cNvSpPr txBox="1"/>
          <p:nvPr/>
        </p:nvSpPr>
        <p:spPr>
          <a:xfrm>
            <a:off x="3217069" y="2235275"/>
            <a:ext cx="1461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3359"/>
                </a:solidFill>
              </a:rPr>
              <a:t>ICMP Detection</a:t>
            </a:r>
            <a:endParaRPr>
              <a:solidFill>
                <a:srgbClr val="003359"/>
              </a:solidFill>
            </a:endParaRPr>
          </a:p>
        </p:txBody>
      </p:sp>
      <p:pic>
        <p:nvPicPr>
          <p:cNvPr id="169" name="Google Shape;169;p28"/>
          <p:cNvPicPr preferRelativeResize="0"/>
          <p:nvPr/>
        </p:nvPicPr>
        <p:blipFill rotWithShape="1">
          <a:blip r:embed="rId5">
            <a:alphaModFix/>
          </a:blip>
          <a:srcRect b="45067" l="0" r="0" t="0"/>
          <a:stretch/>
        </p:blipFill>
        <p:spPr>
          <a:xfrm>
            <a:off x="375875" y="4006475"/>
            <a:ext cx="8568301" cy="1024875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8"/>
          <p:cNvSpPr txBox="1"/>
          <p:nvPr/>
        </p:nvSpPr>
        <p:spPr>
          <a:xfrm>
            <a:off x="3382275" y="3756225"/>
            <a:ext cx="1461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3359"/>
                </a:solidFill>
              </a:rPr>
              <a:t>UDP</a:t>
            </a:r>
            <a:r>
              <a:rPr lang="en">
                <a:solidFill>
                  <a:srgbClr val="003359"/>
                </a:solidFill>
              </a:rPr>
              <a:t> Detection</a:t>
            </a:r>
            <a:endParaRPr>
              <a:solidFill>
                <a:srgbClr val="003359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224125" y="2260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3359"/>
                </a:solidFill>
              </a:rPr>
              <a:t>Anomaly-based detection with z-score</a:t>
            </a:r>
            <a:endParaRPr>
              <a:solidFill>
                <a:srgbClr val="003359"/>
              </a:solidFill>
            </a:endParaRPr>
          </a:p>
        </p:txBody>
      </p:sp>
      <p:sp>
        <p:nvSpPr>
          <p:cNvPr id="176" name="Google Shape;176;p29"/>
          <p:cNvSpPr txBox="1"/>
          <p:nvPr>
            <p:ph idx="1" type="body"/>
          </p:nvPr>
        </p:nvSpPr>
        <p:spPr>
          <a:xfrm>
            <a:off x="311700" y="984200"/>
            <a:ext cx="4386600" cy="32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rPr b="1" lang="en" sz="1335">
                <a:solidFill>
                  <a:srgbClr val="003359"/>
                </a:solidFill>
              </a:rPr>
              <a:t>Why anomaly detection, and the need for a baseline</a:t>
            </a:r>
            <a:endParaRPr b="1" sz="1335">
              <a:solidFill>
                <a:srgbClr val="003359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35"/>
              <a:buFont typeface="Arial"/>
              <a:buNone/>
            </a:pPr>
            <a:r>
              <a:t/>
            </a:r>
            <a:endParaRPr b="1" sz="1335">
              <a:solidFill>
                <a:srgbClr val="003359"/>
              </a:solidFill>
            </a:endParaRPr>
          </a:p>
          <a:p>
            <a:pPr indent="-313373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335"/>
              <a:buChar char="●"/>
            </a:pPr>
            <a:r>
              <a:rPr lang="en" sz="1335">
                <a:solidFill>
                  <a:srgbClr val="003359"/>
                </a:solidFill>
              </a:rPr>
              <a:t>Signature detection catches known patterns; anomaly detection catches deviation from normal</a:t>
            </a:r>
            <a:endParaRPr sz="1335">
              <a:solidFill>
                <a:srgbClr val="003359"/>
              </a:solidFill>
            </a:endParaRPr>
          </a:p>
          <a:p>
            <a:pPr indent="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35">
              <a:solidFill>
                <a:srgbClr val="003359"/>
              </a:solidFill>
            </a:endParaRPr>
          </a:p>
          <a:p>
            <a:pPr indent="-313373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335"/>
              <a:buChar char="●"/>
            </a:pPr>
            <a:r>
              <a:rPr lang="en" sz="1335">
                <a:solidFill>
                  <a:srgbClr val="003359"/>
                </a:solidFill>
              </a:rPr>
              <a:t>Unsupervised approach: learn what normal O1 traffic looks like, then flag anything statistically far from it</a:t>
            </a:r>
            <a:endParaRPr sz="1335">
              <a:solidFill>
                <a:srgbClr val="003359"/>
              </a:solidFill>
            </a:endParaRPr>
          </a:p>
          <a:p>
            <a:pPr indent="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35">
              <a:solidFill>
                <a:srgbClr val="003359"/>
              </a:solidFill>
            </a:endParaRPr>
          </a:p>
          <a:p>
            <a:pPr indent="-313373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335"/>
              <a:buChar char="●"/>
            </a:pPr>
            <a:r>
              <a:rPr lang="en" sz="1335">
                <a:solidFill>
                  <a:srgbClr val="003359"/>
                </a:solidFill>
              </a:rPr>
              <a:t>Requires a </a:t>
            </a:r>
            <a:r>
              <a:rPr b="1" lang="en" sz="1335">
                <a:solidFill>
                  <a:srgbClr val="003359"/>
                </a:solidFill>
              </a:rPr>
              <a:t>benign baseline</a:t>
            </a:r>
            <a:r>
              <a:rPr lang="en" sz="1335">
                <a:solidFill>
                  <a:srgbClr val="003359"/>
                </a:solidFill>
              </a:rPr>
              <a:t> — a dataset of normal traffic, separate from any attack</a:t>
            </a:r>
            <a:endParaRPr sz="1335">
              <a:solidFill>
                <a:srgbClr val="003359"/>
              </a:solidFill>
            </a:endParaRPr>
          </a:p>
          <a:p>
            <a:pPr indent="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r>
              <a:t/>
            </a:r>
            <a:endParaRPr sz="1335">
              <a:solidFill>
                <a:srgbClr val="003359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t/>
            </a:r>
            <a:endParaRPr sz="1930">
              <a:solidFill>
                <a:srgbClr val="003359"/>
              </a:solidFill>
            </a:endParaRPr>
          </a:p>
        </p:txBody>
      </p:sp>
      <p:pic>
        <p:nvPicPr>
          <p:cNvPr id="177" name="Google Shape;177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60800" y="1236425"/>
            <a:ext cx="4083201" cy="3158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525" y="4412355"/>
            <a:ext cx="9143998" cy="731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218975" y="218975"/>
            <a:ext cx="8188800" cy="435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b="1" lang="en" sz="1850">
                <a:solidFill>
                  <a:srgbClr val="003359"/>
                </a:solidFill>
              </a:rPr>
              <a:t>Capturing the benign baseline</a:t>
            </a:r>
            <a:endParaRPr sz="1850">
              <a:solidFill>
                <a:srgbClr val="003359"/>
              </a:solidFill>
            </a:endParaRPr>
          </a:p>
          <a:p>
            <a:pPr indent="0" lvl="0" marL="457200" rtl="0" algn="l">
              <a:lnSpc>
                <a:spcPct val="8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t/>
            </a:r>
            <a:endParaRPr sz="1850">
              <a:solidFill>
                <a:srgbClr val="003359"/>
              </a:solidFill>
            </a:endParaRPr>
          </a:p>
          <a:p>
            <a:pPr indent="-346067" lvl="0" marL="457200" rtl="0" algn="l">
              <a:lnSpc>
                <a:spcPct val="8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850"/>
              <a:buChar char="●"/>
            </a:pPr>
            <a:r>
              <a:rPr lang="en" sz="1850">
                <a:solidFill>
                  <a:srgbClr val="003359"/>
                </a:solidFill>
              </a:rPr>
              <a:t>Traffic made </a:t>
            </a:r>
            <a:r>
              <a:rPr b="1" lang="en" sz="1850">
                <a:solidFill>
                  <a:srgbClr val="003359"/>
                </a:solidFill>
              </a:rPr>
              <a:t>irregular on purpose</a:t>
            </a:r>
            <a:r>
              <a:rPr lang="en" sz="1850">
                <a:solidFill>
                  <a:srgbClr val="003359"/>
                </a:solidFill>
              </a:rPr>
              <a:t> </a:t>
            </a:r>
            <a:endParaRPr sz="1850">
              <a:solidFill>
                <a:srgbClr val="003359"/>
              </a:solidFill>
            </a:endParaRPr>
          </a:p>
          <a:p>
            <a:pPr indent="0" lvl="0" marL="457200" rtl="0" algn="l">
              <a:lnSpc>
                <a:spcPct val="8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50">
              <a:solidFill>
                <a:srgbClr val="003359"/>
              </a:solidFill>
            </a:endParaRPr>
          </a:p>
          <a:p>
            <a:pPr indent="-346067" lvl="0" marL="457200" rtl="0" algn="l">
              <a:lnSpc>
                <a:spcPct val="8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850"/>
              <a:buChar char="●"/>
            </a:pPr>
            <a:r>
              <a:rPr lang="en" sz="1850">
                <a:solidFill>
                  <a:srgbClr val="003359"/>
                </a:solidFill>
              </a:rPr>
              <a:t>Captured on the O-DU's dcn interface (</a:t>
            </a:r>
            <a:r>
              <a:rPr lang="en" sz="1850">
                <a:solidFill>
                  <a:srgbClr val="003359"/>
                </a:solidFill>
                <a:latin typeface="Roboto Mono"/>
                <a:ea typeface="Roboto Mono"/>
                <a:cs typeface="Roboto Mono"/>
                <a:sym typeface="Roboto Mono"/>
              </a:rPr>
              <a:t>eth0</a:t>
            </a:r>
            <a:r>
              <a:rPr lang="en" sz="1850">
                <a:solidFill>
                  <a:srgbClr val="003359"/>
                </a:solidFill>
              </a:rPr>
              <a:t>)</a:t>
            </a:r>
            <a:endParaRPr sz="1850">
              <a:solidFill>
                <a:srgbClr val="003359"/>
              </a:solidFill>
            </a:endParaRPr>
          </a:p>
          <a:p>
            <a:pPr indent="0" lvl="0" marL="457200" rtl="0" algn="l">
              <a:lnSpc>
                <a:spcPct val="8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t/>
            </a:r>
            <a:endParaRPr sz="1850">
              <a:solidFill>
                <a:srgbClr val="003359"/>
              </a:solidFill>
            </a:endParaRPr>
          </a:p>
          <a:p>
            <a:pPr indent="-346067" lvl="0" marL="457200" rtl="0" algn="l">
              <a:lnSpc>
                <a:spcPct val="8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850"/>
              <a:buChar char="●"/>
            </a:pPr>
            <a:r>
              <a:rPr lang="en" sz="1850">
                <a:solidFill>
                  <a:srgbClr val="003359"/>
                </a:solidFill>
              </a:rPr>
              <a:t>~20 minutes of active traffic</a:t>
            </a:r>
            <a:endParaRPr sz="1850">
              <a:solidFill>
                <a:srgbClr val="003359"/>
              </a:solidFill>
            </a:endParaRPr>
          </a:p>
          <a:p>
            <a:pPr indent="0" lvl="0" marL="457200" rtl="0" algn="l">
              <a:lnSpc>
                <a:spcPct val="8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50">
              <a:solidFill>
                <a:srgbClr val="003359"/>
              </a:solidFill>
            </a:endParaRPr>
          </a:p>
          <a:p>
            <a:pPr indent="-346067" lvl="0" marL="457200" rtl="0" algn="l">
              <a:lnSpc>
                <a:spcPct val="8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850"/>
              <a:buChar char="●"/>
            </a:pPr>
            <a:r>
              <a:rPr lang="en" sz="1850">
                <a:solidFill>
                  <a:srgbClr val="003359"/>
                </a:solidFill>
              </a:rPr>
              <a:t>Confirmed content: TLS-dominated, sparse ICMP, no UDP</a:t>
            </a:r>
            <a:endParaRPr sz="2465">
              <a:solidFill>
                <a:srgbClr val="003359"/>
              </a:solidFill>
            </a:endParaRPr>
          </a:p>
        </p:txBody>
      </p:sp>
      <p:pic>
        <p:nvPicPr>
          <p:cNvPr id="184" name="Google Shape;18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4412350"/>
            <a:ext cx="9144123" cy="731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1"/>
          <p:cNvSpPr txBox="1"/>
          <p:nvPr>
            <p:ph idx="1" type="body"/>
          </p:nvPr>
        </p:nvSpPr>
        <p:spPr>
          <a:xfrm>
            <a:off x="88000" y="161275"/>
            <a:ext cx="8874600" cy="378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b="1" lang="en" sz="1900">
                <a:solidFill>
                  <a:srgbClr val="003359"/>
                </a:solidFill>
              </a:rPr>
              <a:t>Feature extraction — time-windowed features</a:t>
            </a:r>
            <a:endParaRPr b="1" sz="1900">
              <a:solidFill>
                <a:srgbClr val="003359"/>
              </a:solidFill>
            </a:endParaRPr>
          </a:p>
          <a:p>
            <a:pPr indent="-33655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700"/>
              <a:buChar char="●"/>
            </a:pPr>
            <a:r>
              <a:rPr lang="en" sz="1700">
                <a:solidFill>
                  <a:srgbClr val="003359"/>
                </a:solidFill>
              </a:rPr>
              <a:t>Unit of analysis: 1-second windows </a:t>
            </a:r>
            <a:endParaRPr sz="1700">
              <a:solidFill>
                <a:srgbClr val="003359"/>
              </a:solidFill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003359"/>
              </a:solidFill>
            </a:endParaRPr>
          </a:p>
          <a:p>
            <a:pPr indent="-33655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700"/>
              <a:buChar char="●"/>
            </a:pPr>
            <a:r>
              <a:rPr lang="en" sz="1700">
                <a:solidFill>
                  <a:srgbClr val="003359"/>
                </a:solidFill>
              </a:rPr>
              <a:t>Features include: packets/sec, bytes/sec, mean &amp; standard-deviation of packet size, unique destination ports, </a:t>
            </a:r>
            <a:r>
              <a:rPr b="1" lang="en" sz="1700">
                <a:solidFill>
                  <a:srgbClr val="003359"/>
                </a:solidFill>
              </a:rPr>
              <a:t>new-connection count (SYNs)</a:t>
            </a:r>
            <a:r>
              <a:rPr lang="en" sz="1700">
                <a:solidFill>
                  <a:srgbClr val="003359"/>
                </a:solidFill>
              </a:rPr>
              <a:t>, </a:t>
            </a:r>
            <a:r>
              <a:rPr b="1" lang="en" sz="1700">
                <a:solidFill>
                  <a:srgbClr val="003359"/>
                </a:solidFill>
              </a:rPr>
              <a:t>TLS handshake count</a:t>
            </a:r>
            <a:r>
              <a:rPr lang="en" sz="1700">
                <a:solidFill>
                  <a:srgbClr val="003359"/>
                </a:solidFill>
              </a:rPr>
              <a:t>, per-protocol fractions</a:t>
            </a:r>
            <a:endParaRPr sz="1700">
              <a:solidFill>
                <a:srgbClr val="003359"/>
              </a:solidFill>
            </a:endParaRPr>
          </a:p>
          <a:p>
            <a:pPr indent="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003359"/>
              </a:solidFill>
            </a:endParaRPr>
          </a:p>
          <a:p>
            <a:pPr indent="-33655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700"/>
              <a:buChar char="●"/>
            </a:pPr>
            <a:r>
              <a:rPr lang="en" sz="1700">
                <a:solidFill>
                  <a:srgbClr val="003359"/>
                </a:solidFill>
              </a:rPr>
              <a:t>The discriminating features for TLS: </a:t>
            </a:r>
            <a:r>
              <a:rPr lang="en" sz="1700">
                <a:solidFill>
                  <a:srgbClr val="003359"/>
                </a:solidFill>
                <a:latin typeface="Roboto Mono"/>
                <a:ea typeface="Roboto Mono"/>
                <a:cs typeface="Roboto Mono"/>
                <a:sym typeface="Roboto Mono"/>
              </a:rPr>
              <a:t>syn_count</a:t>
            </a:r>
            <a:r>
              <a:rPr lang="en" sz="1700">
                <a:solidFill>
                  <a:srgbClr val="003359"/>
                </a:solidFill>
              </a:rPr>
              <a:t> and </a:t>
            </a:r>
            <a:r>
              <a:rPr lang="en" sz="1700">
                <a:solidFill>
                  <a:srgbClr val="003359"/>
                </a:solidFill>
                <a:latin typeface="Roboto Mono"/>
                <a:ea typeface="Roboto Mono"/>
                <a:cs typeface="Roboto Mono"/>
                <a:sym typeface="Roboto Mono"/>
              </a:rPr>
              <a:t>tls_handshake</a:t>
            </a:r>
            <a:r>
              <a:rPr lang="en" sz="1700">
                <a:solidFill>
                  <a:srgbClr val="003359"/>
                </a:solidFill>
              </a:rPr>
              <a:t> — near-zero in benign (one persistent session), high in the flood (a new connection per handshake)</a:t>
            </a:r>
            <a:endParaRPr sz="1700">
              <a:solidFill>
                <a:srgbClr val="003359"/>
              </a:solidFill>
            </a:endParaRPr>
          </a:p>
        </p:txBody>
      </p:sp>
      <p:pic>
        <p:nvPicPr>
          <p:cNvPr id="190" name="Google Shape;190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4412350"/>
            <a:ext cx="9144123" cy="731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2"/>
          <p:cNvSpPr txBox="1"/>
          <p:nvPr>
            <p:ph idx="1" type="body"/>
          </p:nvPr>
        </p:nvSpPr>
        <p:spPr>
          <a:xfrm>
            <a:off x="145900" y="181500"/>
            <a:ext cx="8795400" cy="42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b="1" lang="en" sz="1600">
                <a:solidFill>
                  <a:srgbClr val="003359"/>
                </a:solidFill>
              </a:rPr>
              <a:t>The z-score model and evaluation</a:t>
            </a:r>
            <a:endParaRPr b="1" sz="1600">
              <a:solidFill>
                <a:srgbClr val="003359"/>
              </a:solidFill>
            </a:endParaRPr>
          </a:p>
          <a:p>
            <a:pPr indent="-33020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600"/>
              <a:buChar char="●"/>
            </a:pPr>
            <a:r>
              <a:rPr b="1" lang="en" sz="1600">
                <a:solidFill>
                  <a:srgbClr val="003359"/>
                </a:solidFill>
              </a:rPr>
              <a:t>Method</a:t>
            </a:r>
            <a:endParaRPr b="1" sz="1600">
              <a:solidFill>
                <a:srgbClr val="003359"/>
              </a:solidFill>
            </a:endParaRPr>
          </a:p>
          <a:p>
            <a:pPr indent="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003359"/>
              </a:solidFill>
            </a:endParaRPr>
          </a:p>
          <a:p>
            <a:pPr indent="-33020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600"/>
              <a:buChar char="●"/>
            </a:pPr>
            <a:r>
              <a:rPr lang="en" sz="1600">
                <a:solidFill>
                  <a:srgbClr val="003359"/>
                </a:solidFill>
              </a:rPr>
              <a:t>Formula: </a:t>
            </a:r>
            <a:r>
              <a:rPr lang="en" sz="1600">
                <a:solidFill>
                  <a:srgbClr val="003359"/>
                </a:solidFill>
                <a:latin typeface="Roboto Mono"/>
                <a:ea typeface="Roboto Mono"/>
                <a:cs typeface="Roboto Mono"/>
                <a:sym typeface="Roboto Mono"/>
              </a:rPr>
              <a:t>z = (x − μ) / σ</a:t>
            </a:r>
            <a:r>
              <a:rPr lang="en" sz="1600">
                <a:solidFill>
                  <a:srgbClr val="003359"/>
                </a:solidFill>
              </a:rPr>
              <a:t>; </a:t>
            </a:r>
            <a:endParaRPr sz="1600">
              <a:solidFill>
                <a:srgbClr val="003359"/>
              </a:solidFill>
            </a:endParaRPr>
          </a:p>
          <a:p>
            <a:pPr indent="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003359"/>
              </a:solidFill>
            </a:endParaRPr>
          </a:p>
          <a:p>
            <a:pPr indent="-33020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600"/>
              <a:buChar char="●"/>
            </a:pPr>
            <a:r>
              <a:rPr b="1" lang="en" sz="1600">
                <a:solidFill>
                  <a:srgbClr val="003359"/>
                </a:solidFill>
              </a:rPr>
              <a:t>Train/test split:</a:t>
            </a:r>
            <a:r>
              <a:rPr lang="en" sz="1600">
                <a:solidFill>
                  <a:srgbClr val="003359"/>
                </a:solidFill>
              </a:rPr>
              <a:t> first 80% for training, last 20% for testing</a:t>
            </a:r>
            <a:endParaRPr sz="1600">
              <a:solidFill>
                <a:srgbClr val="003359"/>
              </a:solidFill>
            </a:endParaRPr>
          </a:p>
          <a:p>
            <a:pPr indent="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003359"/>
              </a:solidFill>
            </a:endParaRPr>
          </a:p>
          <a:p>
            <a:pPr indent="-33020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600"/>
              <a:buChar char="●"/>
            </a:pPr>
            <a:r>
              <a:rPr b="1" lang="en" sz="1600">
                <a:solidFill>
                  <a:srgbClr val="003359"/>
                </a:solidFill>
              </a:rPr>
              <a:t>Evaluated on three sets:</a:t>
            </a:r>
            <a:r>
              <a:rPr lang="en" sz="1600">
                <a:solidFill>
                  <a:srgbClr val="003359"/>
                </a:solidFill>
              </a:rPr>
              <a:t> held-out benign (false positives), TLS attack (detection), and — as a cross-check — ICMP attack</a:t>
            </a:r>
            <a:endParaRPr sz="1600">
              <a:solidFill>
                <a:srgbClr val="003359"/>
              </a:solidFill>
            </a:endParaRPr>
          </a:p>
          <a:p>
            <a:pPr indent="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003359"/>
              </a:solidFill>
            </a:endParaRPr>
          </a:p>
          <a:p>
            <a:pPr indent="-33020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3359"/>
              </a:buClr>
              <a:buSzPts val="1600"/>
              <a:buChar char="●"/>
            </a:pPr>
            <a:r>
              <a:rPr b="1" lang="en" sz="1600">
                <a:solidFill>
                  <a:srgbClr val="003359"/>
                </a:solidFill>
              </a:rPr>
              <a:t>Results:</a:t>
            </a:r>
            <a:r>
              <a:rPr lang="en" sz="1600">
                <a:solidFill>
                  <a:srgbClr val="003359"/>
                </a:solidFill>
              </a:rPr>
              <a:t> TLS flood detected at ~71%, ICMP at 100%, false-positive rate ~6.6% on benign</a:t>
            </a:r>
            <a:endParaRPr sz="2200">
              <a:solidFill>
                <a:srgbClr val="003359"/>
              </a:solidFill>
            </a:endParaRPr>
          </a:p>
        </p:txBody>
      </p:sp>
      <p:pic>
        <p:nvPicPr>
          <p:cNvPr id="196" name="Google Shape;19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4412350"/>
            <a:ext cx="9144123" cy="731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3"/>
          <p:cNvSpPr txBox="1"/>
          <p:nvPr>
            <p:ph type="title"/>
          </p:nvPr>
        </p:nvSpPr>
        <p:spPr>
          <a:xfrm>
            <a:off x="78875" y="33977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9900"/>
                </a:solidFill>
              </a:rPr>
              <a:t>Future Work</a:t>
            </a:r>
            <a:endParaRPr>
              <a:solidFill>
                <a:srgbClr val="FF9900"/>
              </a:solidFill>
            </a:endParaRPr>
          </a:p>
        </p:txBody>
      </p:sp>
      <p:pic>
        <p:nvPicPr>
          <p:cNvPr id="202" name="Google Shape;20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4412350"/>
            <a:ext cx="9251527" cy="731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4"/>
          <p:cNvSpPr txBox="1"/>
          <p:nvPr>
            <p:ph idx="1" type="body"/>
          </p:nvPr>
        </p:nvSpPr>
        <p:spPr>
          <a:xfrm>
            <a:off x="142350" y="613350"/>
            <a:ext cx="8747700" cy="391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Machine-learning anomaly detection </a:t>
            </a:r>
            <a:endParaRPr sz="14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Richer benign baseline</a:t>
            </a:r>
            <a:endParaRPr sz="14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Broader threat coverage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Live deployment and validation</a:t>
            </a:r>
            <a:endParaRPr sz="14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Automated mitigation (closing the loop)</a:t>
            </a:r>
            <a:endParaRPr sz="1400">
              <a:solidFill>
                <a:schemeClr val="dk1"/>
              </a:solidFill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/>
          </a:p>
        </p:txBody>
      </p:sp>
      <p:pic>
        <p:nvPicPr>
          <p:cNvPr id="208" name="Google Shape;208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525" y="4412355"/>
            <a:ext cx="9143998" cy="731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5"/>
          <p:cNvSpPr txBox="1"/>
          <p:nvPr>
            <p:ph type="title"/>
          </p:nvPr>
        </p:nvSpPr>
        <p:spPr>
          <a:xfrm>
            <a:off x="210950" y="2285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4320">
                <a:solidFill>
                  <a:srgbClr val="FF9900"/>
                </a:solidFill>
              </a:rPr>
              <a:t>Questions ?</a:t>
            </a:r>
            <a:endParaRPr sz="4320">
              <a:solidFill>
                <a:srgbClr val="FF9900"/>
              </a:solidFill>
            </a:endParaRPr>
          </a:p>
        </p:txBody>
      </p:sp>
      <p:pic>
        <p:nvPicPr>
          <p:cNvPr id="214" name="Google Shape;214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525" y="4412355"/>
            <a:ext cx="9143998" cy="731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