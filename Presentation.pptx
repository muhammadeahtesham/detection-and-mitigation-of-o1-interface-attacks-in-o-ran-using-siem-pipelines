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1a6db61b9c0fefc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1a6db61b9c0fefc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1a6db61b9c0fefc6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h1a6db61b9c0fefc6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359"/>
                </a:solidFill>
                <a:highlight>
                  <a:srgbClr val="F5F5F5"/>
                </a:highlight>
              </a:rPr>
              <a:t>Why this matters for O-RAN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Open interfaces widen the attack surface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O1 controls the entire RAN centrally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One management channel, one point of failure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A high-value, high-impact DoS target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3359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359"/>
                </a:solidFill>
                <a:highlight>
                  <a:srgbClr val="F5F5F5"/>
                </a:highlight>
              </a:rPr>
              <a:t>What this project targets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Focus: the O1 interface (SMO ↔ O-DU)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Protocol: NETCONF over TLS, port 6513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Threat scenario: T-SMO-03 (denial of service)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Studies O1 exposure to DDoS attacks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Telecom is a top-targeted sector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Only 44% stay attack-free for 30 days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3359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3359"/>
                </a:solidFill>
                <a:highlight>
                  <a:srgbClr val="F5F5F5"/>
                </a:highlight>
              </a:rPr>
              <a:t>Why detection must evolve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t/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Short-burst, low-volume attacks evade legacy tools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Detection must be fast and behavioural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Not volumetric thresholds alone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-288925" lvl="0" marL="635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950"/>
              <a:buFont typeface="Arial"/>
              <a:buChar char="●"/>
            </a:pPr>
            <a:r>
              <a:rPr lang="en" sz="1200">
                <a:solidFill>
                  <a:srgbClr val="003359"/>
                </a:solidFill>
                <a:highlight>
                  <a:srgbClr val="F5F5F5"/>
                </a:highlight>
              </a:rPr>
              <a:t>Motivates this project's SIEM + anomaly pipeline</a:t>
            </a: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44444"/>
                </a:solidFill>
                <a:highlight>
                  <a:srgbClr val="F5F5F5"/>
                </a:highlight>
              </a:rPr>
              <a:t>​</a:t>
            </a:r>
            <a:endParaRPr sz="1200">
              <a:solidFill>
                <a:srgbClr val="444444"/>
              </a:solidFill>
              <a:highlight>
                <a:srgbClr val="F5F5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h1a6db61b9c0fefc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h1a6db61b9c0fef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1a6db61b9c0fefc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1a6db61b9c0fefc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1a6db61b9c0fefc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1a6db61b9c0fefc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1a6db61b9c0fefc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1a6db61b9c0fefc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h1a6db61b9c0fefc6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h1a6db61b9c0fefc6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1a6db61b9c0fefc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1a6db61b9c0fefc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1a6db61b9c0fefc6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h1a6db61b9c0fefc6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1a6db61b9c0fefc6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1a6db61b9c0fefc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1a6db61b9c0fefc6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h1a6db61b9c0fefc6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1a6db61b9c0fefc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1a6db61b9c0fefc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1a6db61b9c0fefc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1a6db61b9c0fefc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1a6db61b9c0fefc6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h1a6db61b9c0fefc6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1a6db61b9c0fefc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h1a6db61b9c0fefc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1a6db61b9c0fefc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1a6db61b9c0fefc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1a6db61b9c0fefc6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1a6db61b9c0fefc6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17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50"/>
              <a:buChar char="●"/>
            </a:pPr>
            <a:r>
              <a:rPr lang="en" sz="1350">
                <a:solidFill>
                  <a:schemeClr val="dk1"/>
                </a:solidFill>
              </a:rPr>
              <a:t>Traffic made </a:t>
            </a:r>
            <a:r>
              <a:rPr b="1" lang="en" sz="1350">
                <a:solidFill>
                  <a:schemeClr val="dk1"/>
                </a:solidFill>
              </a:rPr>
              <a:t>irregular on purpose</a:t>
            </a:r>
            <a:r>
              <a:rPr lang="en" sz="1350">
                <a:solidFill>
                  <a:schemeClr val="dk1"/>
                </a:solidFill>
              </a:rPr>
              <a:t> — randomised pauses, occasional bursts, occasional pings — so the model learns realistic variation, not a fixed rhythm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1a6db61b9c0fefc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1a6db61b9c0fefc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Unit of analysis: 1-second windows</a:t>
            </a:r>
            <a:r>
              <a:rPr lang="en" sz="1700">
                <a:solidFill>
                  <a:schemeClr val="dk1"/>
                </a:solidFill>
              </a:rPr>
              <a:t> — not flows, because the ICMP flood collapses to a single flow while windows give a uniform, comparable sample from every capture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</a:rPr>
              <a:t>Unit of analysis: 1-second windows</a:t>
            </a:r>
            <a:r>
              <a:rPr lang="en" sz="1700">
                <a:solidFill>
                  <a:schemeClr val="dk1"/>
                </a:solidFill>
              </a:rPr>
              <a:t> — not flows, because the ICMP flood collapses to a single flow while windows give a uniform, comparable sample from every capture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1a6db61b9c0fefc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h1a6db61b9c0fefc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lang="en" sz="1600">
                <a:solidFill>
                  <a:srgbClr val="003359"/>
                </a:solidFill>
              </a:rPr>
              <a:t> compute mean and standard deviation of each feature over the benign training data; score each window by how many standard deviations its most-extreme feature sits from normal</a:t>
            </a:r>
            <a:endParaRPr sz="1600">
              <a:solidFill>
                <a:srgbClr val="003359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lang="en" sz="1600">
                <a:solidFill>
                  <a:srgbClr val="003359"/>
                </a:solidFill>
              </a:rPr>
              <a:t> compute mean and standard deviation of each feature over the benign training data; score each window by how many standard deviations its most-extreme feature sits from normal</a:t>
            </a:r>
            <a:endParaRPr sz="1600">
              <a:solidFill>
                <a:srgbClr val="0033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1a6db61b9c0fefc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h1a6db61b9c0fefc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1a6db61b9c0fefc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1a6db61b9c0fefc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2 to 3 points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1a6db61b9c0fefc6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1a6db61b9c0fefc6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20975" y="376375"/>
            <a:ext cx="8271600" cy="9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80">
                <a:solidFill>
                  <a:srgbClr val="FF7900"/>
                </a:solidFill>
              </a:rPr>
              <a:t>Detection and Mitigation of O1 Interface Attacks in O-RAN Using SIEM Pipelines</a:t>
            </a:r>
            <a:endParaRPr sz="2280">
              <a:solidFill>
                <a:srgbClr val="FF7900"/>
              </a:solidFill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96475" y="9137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rgbClr val="0B5394"/>
                </a:solidFill>
              </a:rPr>
              <a:t>​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rgbClr val="0B5394"/>
                </a:solidFill>
              </a:rPr>
              <a:t>​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rgbClr val="0B5394"/>
                </a:solidFill>
              </a:rPr>
              <a:t>Author : Muhamamd Eahtesham​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rgbClr val="0B5394"/>
                </a:solidFill>
              </a:rPr>
              <a:t>Supervisor:  Manasik Hassan​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rgbClr val="0B5394"/>
                </a:solidFill>
              </a:rPr>
              <a:t>Chair: Prof. Dr.-Ing. habil. Andreas Mitschele-Thiel ​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rgbClr val="0B5394"/>
                </a:solidFill>
              </a:rPr>
              <a:t>Department: RCSE ​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rgbClr val="0B5394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rgbClr val="0B5394"/>
                </a:solidFill>
              </a:rPr>
              <a:t>Semester: Summer 2026​</a:t>
            </a:r>
            <a:endParaRPr sz="1600">
              <a:solidFill>
                <a:srgbClr val="0B5394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5" y="4431550"/>
            <a:ext cx="8839200" cy="711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219800" y="221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>
                <a:solidFill>
                  <a:srgbClr val="FF9900"/>
                </a:solidFill>
              </a:rPr>
              <a:t>Motivation</a:t>
            </a:r>
            <a:endParaRPr>
              <a:solidFill>
                <a:srgbClr val="FF99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03359"/>
              </a:solidFill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19800" y="1017725"/>
            <a:ext cx="56097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lang="en" spc="-1" sz="1600">
                <a:solidFill>
                  <a:srgbClr val="003359"/>
                </a:solidFill>
                <a:highlight>
                  <a:schemeClr val="lt1"/>
                </a:highlight>
              </a:rPr>
              <a:t>DDoS attacks have reached record scale (2025–26)​</a:t>
            </a:r>
            <a:endParaRPr spc="-1" sz="1600">
              <a:solidFill>
                <a:srgbClr val="003359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pc="-1" sz="1600">
              <a:solidFill>
                <a:srgbClr val="003359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lang="en" spc="-1" sz="1600">
                <a:solidFill>
                  <a:srgbClr val="003359"/>
                </a:solidFill>
                <a:highlight>
                  <a:schemeClr val="lt1"/>
                </a:highlight>
              </a:rPr>
              <a:t>Record volumetric bursts: 31.4 Tbps (Cloudflare), 15.7 Tbps / 3.6 Bpps (Azure)​</a:t>
            </a:r>
            <a:endParaRPr spc="-1" sz="1600">
              <a:solidFill>
                <a:srgbClr val="003359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pc="-1" sz="1600">
              <a:solidFill>
                <a:srgbClr val="003359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lang="en" spc="-1" sz="1600">
                <a:solidFill>
                  <a:srgbClr val="003359"/>
                </a:solidFill>
                <a:highlight>
                  <a:schemeClr val="lt1"/>
                </a:highlight>
              </a:rPr>
              <a:t>Peak bandwidth +85% YoY, packet rate +56% — driven by IoT super-botnets of millions of device</a:t>
            </a:r>
            <a:endParaRPr spc="-1" sz="1600">
              <a:solidFill>
                <a:srgbClr val="003359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pc="-1" sz="1600">
              <a:solidFill>
                <a:srgbClr val="003359"/>
              </a:solidFill>
              <a:highlight>
                <a:schemeClr val="lt1"/>
              </a:highlight>
            </a:endParaRPr>
          </a:p>
          <a:p>
            <a:pPr indent="-3302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lang="en" spc="-1" sz="1600">
                <a:solidFill>
                  <a:srgbClr val="003359"/>
                </a:solidFill>
                <a:highlight>
                  <a:schemeClr val="lt1"/>
                </a:highlight>
              </a:rPr>
              <a:t>Cover for stealth intrusion; telecom is a top-targeted sector​</a:t>
            </a:r>
            <a:endParaRPr spc="-1" sz="1600">
              <a:solidFill>
                <a:srgbClr val="003359"/>
              </a:solidFill>
              <a:highlight>
                <a:schemeClr val="lt1"/>
              </a:highlight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9475" y="1194649"/>
            <a:ext cx="3053650" cy="1113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9475" y="2639075"/>
            <a:ext cx="3002825" cy="1497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80">
                <a:solidFill>
                  <a:srgbClr val="003359"/>
                </a:solidFill>
                <a:highlight>
                  <a:srgbClr val="FFFFFF"/>
                </a:highlight>
              </a:rPr>
              <a:t>Why this matters for O-RAN​</a:t>
            </a:r>
            <a:endParaRPr sz="1980">
              <a:solidFill>
                <a:srgbClr val="00335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80">
              <a:solidFill>
                <a:srgbClr val="00335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80">
                <a:solidFill>
                  <a:srgbClr val="003359"/>
                </a:solidFill>
                <a:highlight>
                  <a:srgbClr val="FFFFFF"/>
                </a:highlight>
              </a:rPr>
              <a:t>What this project targets​</a:t>
            </a:r>
            <a:endParaRPr sz="1980">
              <a:solidFill>
                <a:srgbClr val="00335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80">
              <a:solidFill>
                <a:srgbClr val="00335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80">
                <a:solidFill>
                  <a:srgbClr val="003359"/>
                </a:solidFill>
                <a:highlight>
                  <a:srgbClr val="FFFFFF"/>
                </a:highlight>
              </a:rPr>
              <a:t>Why detection must evolve​</a:t>
            </a:r>
            <a:endParaRPr sz="1980">
              <a:solidFill>
                <a:srgbClr val="00335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80">
              <a:solidFill>
                <a:srgbClr val="003359"/>
              </a:solidFill>
              <a:highlight>
                <a:srgbClr val="FFFFFF"/>
              </a:highlight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50" y="4436725"/>
            <a:ext cx="8839199" cy="706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18775" y="3383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>
                <a:solidFill>
                  <a:srgbClr val="FF9900"/>
                </a:solidFill>
              </a:rPr>
              <a:t>Architecture </a:t>
            </a:r>
            <a:endParaRPr sz="2820">
              <a:solidFill>
                <a:srgbClr val="FF9900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59"/>
                </a:solidFill>
              </a:rPr>
              <a:t>T</a:t>
            </a:r>
            <a:r>
              <a:rPr lang="en">
                <a:solidFill>
                  <a:srgbClr val="003359"/>
                </a:solidFill>
              </a:rPr>
              <a:t>he O1 interface</a:t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00" y="1326675"/>
            <a:ext cx="8855002" cy="268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75650" y="255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59"/>
                </a:solidFill>
              </a:rPr>
              <a:t>DDoS Threat Simulation</a:t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02050"/>
            <a:ext cx="8107303" cy="356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69125" y="368700"/>
            <a:ext cx="8763300" cy="6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44">
                <a:solidFill>
                  <a:srgbClr val="003359"/>
                </a:solidFill>
              </a:rPr>
              <a:t>     </a:t>
            </a:r>
            <a:r>
              <a:rPr lang="en" sz="2244">
                <a:solidFill>
                  <a:srgbClr val="003359"/>
                </a:solidFill>
              </a:rPr>
              <a:t>T</a:t>
            </a:r>
            <a:r>
              <a:rPr lang="en" sz="2244">
                <a:solidFill>
                  <a:srgbClr val="003359"/>
                </a:solidFill>
              </a:rPr>
              <a:t>he detection pipeline</a:t>
            </a:r>
            <a:r>
              <a:rPr lang="en">
                <a:solidFill>
                  <a:srgbClr val="003359"/>
                </a:solidFill>
              </a:rPr>
              <a:t>                 			</a:t>
            </a:r>
            <a:r>
              <a:rPr lang="en" sz="2133">
                <a:solidFill>
                  <a:srgbClr val="003359"/>
                </a:solidFill>
              </a:rPr>
              <a:t>Defending the infrastructure</a:t>
            </a:r>
            <a:endParaRPr sz="2133">
              <a:solidFill>
                <a:srgbClr val="0033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523" y="1194650"/>
            <a:ext cx="4648125" cy="316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5751" y="1349176"/>
            <a:ext cx="3545775" cy="244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140925" y="433925"/>
            <a:ext cx="4802400" cy="447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3359"/>
                </a:solidFill>
              </a:rPr>
              <a:t>Monitoring stack (Wazuh 4.7.3, single-node)</a:t>
            </a:r>
            <a:endParaRPr b="1">
              <a:solidFill>
                <a:srgbClr val="0033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 b="1">
              <a:solidFill>
                <a:srgbClr val="003359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ct val="100000"/>
              <a:buChar char="-"/>
            </a:pPr>
            <a:r>
              <a:rPr lang="en">
                <a:solidFill>
                  <a:srgbClr val="003359"/>
                </a:solidFill>
              </a:rPr>
              <a:t>Wazuh manager, indexer, and dashboard</a:t>
            </a:r>
            <a:endParaRPr>
              <a:solidFill>
                <a:srgbClr val="003359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359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ct val="100000"/>
              <a:buChar char="-"/>
            </a:pPr>
            <a:r>
              <a:rPr lang="en">
                <a:solidFill>
                  <a:srgbClr val="003359"/>
                </a:solidFill>
              </a:rPr>
              <a:t>Suricata installed as a process inside the Wazuh manager — the network sensor</a:t>
            </a:r>
            <a:endParaRPr>
              <a:solidFill>
                <a:srgbClr val="003359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359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ct val="100000"/>
              <a:buChar char="-"/>
            </a:pPr>
            <a:r>
              <a:rPr lang="en">
                <a:solidFill>
                  <a:srgbClr val="003359"/>
                </a:solidFill>
              </a:rPr>
              <a:t>Runs alongside the O-RAN stack, observing its traffic without being part of it</a:t>
            </a:r>
            <a:endParaRPr>
              <a:solidFill>
                <a:srgbClr val="0033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rgbClr val="0033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6125" y="217825"/>
            <a:ext cx="4030449" cy="207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 rotWithShape="1">
          <a:blip r:embed="rId4">
            <a:alphaModFix/>
          </a:blip>
          <a:srcRect b="0" l="0" r="0" t="2401"/>
          <a:stretch/>
        </p:blipFill>
        <p:spPr>
          <a:xfrm>
            <a:off x="4961800" y="2533209"/>
            <a:ext cx="4199100" cy="1771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227025" y="3376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Methodology</a:t>
            </a:r>
            <a:endParaRPr>
              <a:solidFill>
                <a:srgbClr val="FF9900"/>
              </a:solidFill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261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59"/>
                </a:solidFill>
              </a:rPr>
              <a:t>ICMP Flood</a:t>
            </a:r>
            <a:endParaRPr>
              <a:solidFill>
                <a:srgbClr val="00335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00" y="834126"/>
            <a:ext cx="7735125" cy="11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755" y="1954125"/>
            <a:ext cx="5637996" cy="31893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2"/>
          <p:cNvCxnSpPr/>
          <p:nvPr/>
        </p:nvCxnSpPr>
        <p:spPr>
          <a:xfrm>
            <a:off x="311700" y="1664600"/>
            <a:ext cx="1156500" cy="4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22"/>
          <p:cNvCxnSpPr/>
          <p:nvPr/>
        </p:nvCxnSpPr>
        <p:spPr>
          <a:xfrm>
            <a:off x="311700" y="1517250"/>
            <a:ext cx="897600" cy="114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201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59"/>
                </a:solidFill>
              </a:rPr>
              <a:t>UDP Flood</a:t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675" y="774400"/>
            <a:ext cx="7819474" cy="124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850" y="2017725"/>
            <a:ext cx="5562574" cy="3125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3"/>
          <p:cNvCxnSpPr/>
          <p:nvPr/>
        </p:nvCxnSpPr>
        <p:spPr>
          <a:xfrm>
            <a:off x="376750" y="1914350"/>
            <a:ext cx="1156500" cy="4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23"/>
          <p:cNvCxnSpPr/>
          <p:nvPr/>
        </p:nvCxnSpPr>
        <p:spPr>
          <a:xfrm>
            <a:off x="376750" y="1706350"/>
            <a:ext cx="1156500" cy="45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311700" y="240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59"/>
                </a:solidFill>
              </a:rPr>
              <a:t>TLS Flood</a:t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400" y="1314750"/>
            <a:ext cx="4110101" cy="33658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" name="Google Shape;138;p24"/>
          <p:cNvCxnSpPr/>
          <p:nvPr/>
        </p:nvCxnSpPr>
        <p:spPr>
          <a:xfrm>
            <a:off x="3041850" y="4664675"/>
            <a:ext cx="815400" cy="159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9" name="Google Shape;1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9575" y="1298850"/>
            <a:ext cx="4363474" cy="33658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24"/>
          <p:cNvCxnSpPr/>
          <p:nvPr/>
        </p:nvCxnSpPr>
        <p:spPr>
          <a:xfrm>
            <a:off x="8141125" y="4664675"/>
            <a:ext cx="815400" cy="159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4"/>
          <p:cNvSpPr txBox="1"/>
          <p:nvPr/>
        </p:nvSpPr>
        <p:spPr>
          <a:xfrm>
            <a:off x="355400" y="856074"/>
            <a:ext cx="670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SYNs – ~6,500                                                           </a:t>
            </a:r>
            <a:r>
              <a:rPr lang="en" sz="1500">
                <a:solidFill>
                  <a:schemeClr val="dk1"/>
                </a:solidFill>
              </a:rPr>
              <a:t>SYN-ACKs – ~950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>
                <a:solidFill>
                  <a:srgbClr val="003359"/>
                </a:solidFill>
              </a:rPr>
              <a:t>The SIEM detection pipeline with signature-based detection</a:t>
            </a:r>
            <a:endParaRPr sz="2420">
              <a:solidFill>
                <a:srgbClr val="003359"/>
              </a:solidFill>
            </a:endParaRPr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" sz="4850">
                <a:solidFill>
                  <a:srgbClr val="003359"/>
                </a:solidFill>
              </a:rPr>
              <a:t>Pipeline overview</a:t>
            </a:r>
            <a:endParaRPr b="1" sz="4850">
              <a:solidFill>
                <a:srgbClr val="003359"/>
              </a:solidFill>
            </a:endParaRPr>
          </a:p>
          <a:p>
            <a:pPr indent="-351794" lvl="0" marL="457200" rtl="0" algn="l"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ct val="100000"/>
              <a:buChar char="●"/>
            </a:pPr>
            <a:r>
              <a:rPr lang="en" sz="4850">
                <a:solidFill>
                  <a:srgbClr val="003359"/>
                </a:solidFill>
              </a:rPr>
              <a:t>Goal: turn raw O1 attack traffic into actionable alerts an analyst can see</a:t>
            </a:r>
            <a:endParaRPr sz="4850">
              <a:solidFill>
                <a:srgbClr val="003359"/>
              </a:solidFill>
            </a:endParaRPr>
          </a:p>
          <a:p>
            <a:pPr indent="-351794" lvl="0" marL="457200" rtl="0" algn="l">
              <a:spcBef>
                <a:spcPts val="0"/>
              </a:spcBef>
              <a:spcAft>
                <a:spcPts val="0"/>
              </a:spcAft>
              <a:buClr>
                <a:srgbClr val="003359"/>
              </a:buClr>
              <a:buSzPct val="100000"/>
              <a:buChar char="●"/>
            </a:pPr>
            <a:r>
              <a:rPr lang="en" sz="4850">
                <a:solidFill>
                  <a:srgbClr val="003359"/>
                </a:solidFill>
              </a:rPr>
              <a:t>Four stages: capture → detect (Suricata) → forward (Wazuh agent) → store &amp; visualise (indexer + dashboard)</a:t>
            </a:r>
            <a:endParaRPr sz="4850">
              <a:solidFill>
                <a:srgbClr val="003359"/>
              </a:solidFill>
            </a:endParaRPr>
          </a:p>
          <a:p>
            <a:pPr indent="-351794" lvl="0" marL="457200" rtl="0" algn="l">
              <a:spcBef>
                <a:spcPts val="0"/>
              </a:spcBef>
              <a:spcAft>
                <a:spcPts val="0"/>
              </a:spcAft>
              <a:buClr>
                <a:srgbClr val="003359"/>
              </a:buClr>
              <a:buSzPct val="100000"/>
              <a:buChar char="●"/>
            </a:pPr>
            <a:r>
              <a:rPr lang="en" sz="4850">
                <a:solidFill>
                  <a:srgbClr val="003359"/>
                </a:solidFill>
              </a:rPr>
              <a:t>Suricata runs as a process </a:t>
            </a:r>
            <a:r>
              <a:rPr i="1" lang="en" sz="4850">
                <a:solidFill>
                  <a:srgbClr val="003359"/>
                </a:solidFill>
              </a:rPr>
              <a:t>inside</a:t>
            </a:r>
            <a:r>
              <a:rPr lang="en" sz="4850">
                <a:solidFill>
                  <a:srgbClr val="003359"/>
                </a:solidFill>
              </a:rPr>
              <a:t> the Wazuh manager</a:t>
            </a:r>
            <a:endParaRPr sz="4850">
              <a:solidFill>
                <a:srgbClr val="0033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50">
                <a:solidFill>
                  <a:srgbClr val="003359"/>
                </a:solidFill>
              </a:rPr>
              <a:t>Traffic ingestion</a:t>
            </a:r>
            <a:endParaRPr b="1" sz="4850">
              <a:solidFill>
                <a:srgbClr val="003359"/>
              </a:solidFill>
            </a:endParaRPr>
          </a:p>
          <a:p>
            <a:pPr indent="-351794" lvl="0" marL="457200" rtl="0" algn="l"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ct val="100000"/>
              <a:buChar char="●"/>
            </a:pPr>
            <a:r>
              <a:rPr lang="en" sz="4850">
                <a:solidFill>
                  <a:srgbClr val="003359"/>
                </a:solidFill>
              </a:rPr>
              <a:t>Attack and O1 traffic captured to pcap on the O-DU's dcn interface</a:t>
            </a:r>
            <a:endParaRPr sz="4850">
              <a:solidFill>
                <a:srgbClr val="003359"/>
              </a:solidFill>
            </a:endParaRPr>
          </a:p>
          <a:p>
            <a:pPr indent="-351794" lvl="0" marL="457200" rtl="0" algn="l">
              <a:spcBef>
                <a:spcPts val="0"/>
              </a:spcBef>
              <a:spcAft>
                <a:spcPts val="0"/>
              </a:spcAft>
              <a:buClr>
                <a:srgbClr val="003359"/>
              </a:buClr>
              <a:buSzPct val="100000"/>
              <a:buChar char="●"/>
            </a:pPr>
            <a:r>
              <a:rPr lang="en" sz="4850">
                <a:solidFill>
                  <a:srgbClr val="003359"/>
                </a:solidFill>
                <a:latin typeface="Roboto Mono"/>
                <a:ea typeface="Roboto Mono"/>
                <a:cs typeface="Roboto Mono"/>
                <a:sym typeface="Roboto Mono"/>
              </a:rPr>
              <a:t>suricata -r &lt;pcap&gt;</a:t>
            </a:r>
            <a:endParaRPr sz="4850">
              <a:solidFill>
                <a:srgbClr val="0033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248200" y="750300"/>
            <a:ext cx="8762100" cy="42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850">
                <a:solidFill>
                  <a:srgbClr val="003359"/>
                </a:solidFill>
              </a:rPr>
              <a:t>Suricata — detection engine</a:t>
            </a:r>
            <a:endParaRPr b="1" sz="4850">
              <a:solidFill>
                <a:srgbClr val="0033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b="1" sz="4850">
              <a:solidFill>
                <a:srgbClr val="003359"/>
              </a:solidFill>
            </a:endParaRPr>
          </a:p>
          <a:p>
            <a:pPr indent="-325747" lvl="0" marL="457200" rtl="0" algn="l"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ct val="100000"/>
              <a:buChar char="●"/>
            </a:pPr>
            <a:r>
              <a:rPr lang="en" sz="3825">
                <a:solidFill>
                  <a:srgbClr val="003359"/>
                </a:solidFill>
              </a:rPr>
              <a:t>Reads the pcap and matches traffic against a ruleset</a:t>
            </a:r>
            <a:endParaRPr sz="3825">
              <a:solidFill>
                <a:srgbClr val="003359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825">
              <a:solidFill>
                <a:srgbClr val="003359"/>
              </a:solidFill>
            </a:endParaRPr>
          </a:p>
          <a:p>
            <a:pPr indent="-325747" lvl="0" marL="457200" rtl="0" algn="l"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ct val="100000"/>
              <a:buChar char="●"/>
            </a:pPr>
            <a:r>
              <a:rPr lang="en" sz="3825">
                <a:solidFill>
                  <a:srgbClr val="003359"/>
                </a:solidFill>
              </a:rPr>
              <a:t>Custom rules, stored in </a:t>
            </a:r>
            <a:r>
              <a:rPr lang="en" sz="3825">
                <a:solidFill>
                  <a:srgbClr val="003359"/>
                </a:solidFill>
                <a:latin typeface="Roboto Mono"/>
                <a:ea typeface="Roboto Mono"/>
                <a:cs typeface="Roboto Mono"/>
                <a:sym typeface="Roboto Mono"/>
              </a:rPr>
              <a:t>oran-custom.rules</a:t>
            </a:r>
            <a:r>
              <a:rPr lang="en" sz="3825">
                <a:solidFill>
                  <a:srgbClr val="003359"/>
                </a:solidFill>
              </a:rPr>
              <a:t>, registered under </a:t>
            </a:r>
            <a:r>
              <a:rPr lang="en" sz="3825">
                <a:solidFill>
                  <a:srgbClr val="003359"/>
                </a:solidFill>
                <a:latin typeface="Roboto Mono"/>
                <a:ea typeface="Roboto Mono"/>
                <a:cs typeface="Roboto Mono"/>
                <a:sym typeface="Roboto Mono"/>
              </a:rPr>
              <a:t>suricata.yaml</a:t>
            </a:r>
            <a:endParaRPr sz="3825">
              <a:solidFill>
                <a:srgbClr val="00335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825">
              <a:solidFill>
                <a:srgbClr val="00335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25747" lvl="0" marL="457200" rtl="0" algn="l"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ct val="100000"/>
              <a:buChar char="●"/>
            </a:pPr>
            <a:r>
              <a:rPr lang="en" sz="3825">
                <a:solidFill>
                  <a:srgbClr val="003359"/>
                </a:solidFill>
              </a:rPr>
              <a:t>Alerts written as JSON to </a:t>
            </a:r>
            <a:r>
              <a:rPr lang="en" sz="3825">
                <a:solidFill>
                  <a:srgbClr val="003359"/>
                </a:solidFill>
                <a:latin typeface="Roboto Mono"/>
                <a:ea typeface="Roboto Mono"/>
                <a:cs typeface="Roboto Mono"/>
                <a:sym typeface="Roboto Mono"/>
              </a:rPr>
              <a:t>eve.json</a:t>
            </a:r>
            <a:endParaRPr sz="3825">
              <a:solidFill>
                <a:srgbClr val="00335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50">
              <a:solidFill>
                <a:srgbClr val="00335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50">
              <a:solidFill>
                <a:srgbClr val="00335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169375" y="758350"/>
            <a:ext cx="8830200" cy="404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3359"/>
                </a:solidFill>
              </a:rPr>
              <a:t>Three custom signatures:</a:t>
            </a:r>
            <a:endParaRPr sz="1600">
              <a:solidFill>
                <a:srgbClr val="003359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○"/>
            </a:pPr>
            <a:r>
              <a:rPr lang="en" sz="1600">
                <a:solidFill>
                  <a:srgbClr val="003359"/>
                </a:solidFill>
              </a:rPr>
              <a:t>UDP flood </a:t>
            </a:r>
            <a:endParaRPr sz="1600">
              <a:solidFill>
                <a:srgbClr val="003359"/>
              </a:solidFill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3359"/>
                </a:solidFill>
              </a:rPr>
              <a:t>alert udp any any -&gt; any 6513 (msg:"O1 Interface UDP Flood - T-SMO"; threshold: type both, track by_dst, count 100, seconds 1; sid:1000001; rev:1;)</a:t>
            </a:r>
            <a:endParaRPr sz="1600">
              <a:solidFill>
                <a:srgbClr val="003359"/>
              </a:solidFill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○"/>
            </a:pPr>
            <a:r>
              <a:rPr lang="en" sz="1600">
                <a:solidFill>
                  <a:srgbClr val="003359"/>
                </a:solidFill>
              </a:rPr>
              <a:t>TLS handshake flood</a:t>
            </a:r>
            <a:endParaRPr sz="1600">
              <a:solidFill>
                <a:srgbClr val="00335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600">
                <a:solidFill>
                  <a:srgbClr val="003359"/>
                </a:solidFill>
              </a:rPr>
              <a:t>alert tcp any any -&gt; any 6513 (msg:"ORAN_T-SMO TLS handshake flood detected"; flow:to_server; content:"|16 03|"; depth:2; threshold:type threshold, track by_src, count 100, seconds 5; classtype:attempted-dos; sid:1000002; rev:1;)</a:t>
            </a:r>
            <a:endParaRPr sz="1600">
              <a:solidFill>
                <a:srgbClr val="00335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1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○"/>
            </a:pPr>
            <a:r>
              <a:rPr lang="en" sz="1600">
                <a:solidFill>
                  <a:srgbClr val="003359"/>
                </a:solidFill>
              </a:rPr>
              <a:t>ICMP flood</a:t>
            </a:r>
            <a:endParaRPr sz="1600">
              <a:solidFill>
                <a:srgbClr val="003359"/>
              </a:solidFill>
            </a:endParaRPr>
          </a:p>
          <a:p>
            <a:pPr indent="457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3359"/>
                </a:solidFill>
              </a:rPr>
              <a:t>alert icmp 172.21.0.0/16 any -&gt; 172.21.0.7 any (msg:"ORAN T-SMO-03 ICMP flood on O1 interface O-DU"; itype:8;  dsize:&gt;1000; threshold: type threshold, track by_src, count 100, seconds 1; classtype:attempted-dos;sid:1000003;rev:1;)</a:t>
            </a:r>
            <a:endParaRPr sz="1600">
              <a:solidFill>
                <a:srgbClr val="0033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850">
              <a:solidFill>
                <a:srgbClr val="0033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191275" y="302700"/>
            <a:ext cx="76284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>
                <a:solidFill>
                  <a:srgbClr val="003359"/>
                </a:solidFill>
              </a:rPr>
              <a:t>Wazuh Dashboard Results</a:t>
            </a:r>
            <a:endParaRPr sz="2020">
              <a:solidFill>
                <a:srgbClr val="003359"/>
              </a:solidFill>
            </a:endParaRPr>
          </a:p>
        </p:txBody>
      </p:sp>
      <p:pic>
        <p:nvPicPr>
          <p:cNvPr id="165" name="Google Shape;165;p28"/>
          <p:cNvPicPr preferRelativeResize="0"/>
          <p:nvPr/>
        </p:nvPicPr>
        <p:blipFill rotWithShape="1">
          <a:blip r:embed="rId3">
            <a:alphaModFix/>
          </a:blip>
          <a:srcRect b="40345" l="0" r="0" t="0"/>
          <a:stretch/>
        </p:blipFill>
        <p:spPr>
          <a:xfrm>
            <a:off x="274775" y="1219200"/>
            <a:ext cx="8869227" cy="101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 txBox="1"/>
          <p:nvPr/>
        </p:nvSpPr>
        <p:spPr>
          <a:xfrm>
            <a:off x="3056450" y="788100"/>
            <a:ext cx="15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59"/>
                </a:solidFill>
              </a:rPr>
              <a:t>TLS Detection</a:t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 rotWithShape="1">
          <a:blip r:embed="rId4">
            <a:alphaModFix/>
          </a:blip>
          <a:srcRect b="63587" l="0" r="0" t="5786"/>
          <a:stretch/>
        </p:blipFill>
        <p:spPr>
          <a:xfrm>
            <a:off x="337125" y="2635475"/>
            <a:ext cx="8031000" cy="10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3217069" y="2235275"/>
            <a:ext cx="14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59"/>
                </a:solidFill>
              </a:rPr>
              <a:t>ICMP Detection</a:t>
            </a:r>
            <a:endParaRPr>
              <a:solidFill>
                <a:srgbClr val="003359"/>
              </a:solidFill>
            </a:endParaRPr>
          </a:p>
        </p:txBody>
      </p:sp>
      <p:pic>
        <p:nvPicPr>
          <p:cNvPr id="169" name="Google Shape;169;p28"/>
          <p:cNvPicPr preferRelativeResize="0"/>
          <p:nvPr/>
        </p:nvPicPr>
        <p:blipFill rotWithShape="1">
          <a:blip r:embed="rId5">
            <a:alphaModFix/>
          </a:blip>
          <a:srcRect b="45067" l="0" r="0" t="0"/>
          <a:stretch/>
        </p:blipFill>
        <p:spPr>
          <a:xfrm>
            <a:off x="375875" y="4006475"/>
            <a:ext cx="8568301" cy="102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/>
          <p:nvPr/>
        </p:nvSpPr>
        <p:spPr>
          <a:xfrm>
            <a:off x="3382275" y="3756225"/>
            <a:ext cx="146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59"/>
                </a:solidFill>
              </a:rPr>
              <a:t>UDP</a:t>
            </a:r>
            <a:r>
              <a:rPr lang="en">
                <a:solidFill>
                  <a:srgbClr val="003359"/>
                </a:solidFill>
              </a:rPr>
              <a:t> Detection</a:t>
            </a:r>
            <a:endParaRPr>
              <a:solidFill>
                <a:srgbClr val="0033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224125" y="2260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3359"/>
                </a:solidFill>
              </a:rPr>
              <a:t>Anomaly-based detection with z-score</a:t>
            </a:r>
            <a:endParaRPr>
              <a:solidFill>
                <a:srgbClr val="003359"/>
              </a:solidFill>
            </a:endParaRPr>
          </a:p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>
            <a:off x="311700" y="984200"/>
            <a:ext cx="4386600" cy="32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335">
                <a:solidFill>
                  <a:srgbClr val="003359"/>
                </a:solidFill>
              </a:rPr>
              <a:t>Why anomaly detection, and the need for a baseline</a:t>
            </a:r>
            <a:endParaRPr b="1" sz="1335">
              <a:solidFill>
                <a:srgbClr val="0033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1" sz="1335">
              <a:solidFill>
                <a:srgbClr val="003359"/>
              </a:solidFill>
            </a:endParaRPr>
          </a:p>
          <a:p>
            <a:pPr indent="-3133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335"/>
              <a:buChar char="●"/>
            </a:pPr>
            <a:r>
              <a:rPr lang="en" sz="1335">
                <a:solidFill>
                  <a:srgbClr val="003359"/>
                </a:solidFill>
              </a:rPr>
              <a:t>Signature detection catches known patterns; anomaly detection catches deviation from normal</a:t>
            </a:r>
            <a:endParaRPr sz="1335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5">
              <a:solidFill>
                <a:srgbClr val="003359"/>
              </a:solidFill>
            </a:endParaRPr>
          </a:p>
          <a:p>
            <a:pPr indent="-3133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335"/>
              <a:buChar char="●"/>
            </a:pPr>
            <a:r>
              <a:rPr lang="en" sz="1335">
                <a:solidFill>
                  <a:srgbClr val="003359"/>
                </a:solidFill>
              </a:rPr>
              <a:t>Unsupervised approach: learn what normal O1 traffic looks like, then flag anything statistically far from it</a:t>
            </a:r>
            <a:endParaRPr sz="1335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35">
              <a:solidFill>
                <a:srgbClr val="003359"/>
              </a:solidFill>
            </a:endParaRPr>
          </a:p>
          <a:p>
            <a:pPr indent="-3133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335"/>
              <a:buChar char="●"/>
            </a:pPr>
            <a:r>
              <a:rPr lang="en" sz="1335">
                <a:solidFill>
                  <a:srgbClr val="003359"/>
                </a:solidFill>
              </a:rPr>
              <a:t>Requires a </a:t>
            </a:r>
            <a:r>
              <a:rPr b="1" lang="en" sz="1335">
                <a:solidFill>
                  <a:srgbClr val="003359"/>
                </a:solidFill>
              </a:rPr>
              <a:t>benign baseline</a:t>
            </a:r>
            <a:r>
              <a:rPr lang="en" sz="1335">
                <a:solidFill>
                  <a:srgbClr val="003359"/>
                </a:solidFill>
              </a:rPr>
              <a:t> — a dataset of normal traffic, separate from any attack</a:t>
            </a:r>
            <a:endParaRPr sz="1335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335">
              <a:solidFill>
                <a:srgbClr val="0033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930">
              <a:solidFill>
                <a:srgbClr val="003359"/>
              </a:solidFill>
            </a:endParaRPr>
          </a:p>
        </p:txBody>
      </p:sp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800" y="1236425"/>
            <a:ext cx="4083201" cy="315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idx="1" type="body"/>
          </p:nvPr>
        </p:nvSpPr>
        <p:spPr>
          <a:xfrm>
            <a:off x="218975" y="218975"/>
            <a:ext cx="8188800" cy="4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" sz="1850">
                <a:solidFill>
                  <a:srgbClr val="003359"/>
                </a:solidFill>
              </a:rPr>
              <a:t>Capturing the benign baseline</a:t>
            </a:r>
            <a:endParaRPr sz="1850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850">
              <a:solidFill>
                <a:srgbClr val="003359"/>
              </a:solidFill>
            </a:endParaRPr>
          </a:p>
          <a:p>
            <a:pPr indent="-346067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850"/>
              <a:buChar char="●"/>
            </a:pPr>
            <a:r>
              <a:rPr lang="en" sz="1850">
                <a:solidFill>
                  <a:srgbClr val="003359"/>
                </a:solidFill>
              </a:rPr>
              <a:t>Traffic made </a:t>
            </a:r>
            <a:r>
              <a:rPr b="1" lang="en" sz="1850">
                <a:solidFill>
                  <a:srgbClr val="003359"/>
                </a:solidFill>
              </a:rPr>
              <a:t>irregular on purpose</a:t>
            </a:r>
            <a:r>
              <a:rPr lang="en" sz="1850">
                <a:solidFill>
                  <a:srgbClr val="003359"/>
                </a:solidFill>
              </a:rPr>
              <a:t> </a:t>
            </a:r>
            <a:endParaRPr sz="1850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003359"/>
              </a:solidFill>
            </a:endParaRPr>
          </a:p>
          <a:p>
            <a:pPr indent="-346067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850"/>
              <a:buChar char="●"/>
            </a:pPr>
            <a:r>
              <a:rPr lang="en" sz="1850">
                <a:solidFill>
                  <a:srgbClr val="003359"/>
                </a:solidFill>
              </a:rPr>
              <a:t>Captured on the O-DU's dcn interface (</a:t>
            </a:r>
            <a:r>
              <a:rPr lang="en" sz="1850">
                <a:solidFill>
                  <a:srgbClr val="003359"/>
                </a:solidFill>
                <a:latin typeface="Roboto Mono"/>
                <a:ea typeface="Roboto Mono"/>
                <a:cs typeface="Roboto Mono"/>
                <a:sym typeface="Roboto Mono"/>
              </a:rPr>
              <a:t>eth0</a:t>
            </a:r>
            <a:r>
              <a:rPr lang="en" sz="1850">
                <a:solidFill>
                  <a:srgbClr val="003359"/>
                </a:solidFill>
              </a:rPr>
              <a:t>)</a:t>
            </a:r>
            <a:endParaRPr sz="1850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850">
              <a:solidFill>
                <a:srgbClr val="003359"/>
              </a:solidFill>
            </a:endParaRPr>
          </a:p>
          <a:p>
            <a:pPr indent="-346067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850"/>
              <a:buChar char="●"/>
            </a:pPr>
            <a:r>
              <a:rPr lang="en" sz="1850">
                <a:solidFill>
                  <a:srgbClr val="003359"/>
                </a:solidFill>
              </a:rPr>
              <a:t>~20 minutes of active traffic</a:t>
            </a:r>
            <a:endParaRPr sz="1850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003359"/>
              </a:solidFill>
            </a:endParaRPr>
          </a:p>
          <a:p>
            <a:pPr indent="-346067" lvl="0" marL="45720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850"/>
              <a:buChar char="●"/>
            </a:pPr>
            <a:r>
              <a:rPr lang="en" sz="1850">
                <a:solidFill>
                  <a:srgbClr val="003359"/>
                </a:solidFill>
              </a:rPr>
              <a:t>Confirmed content: TLS-dominated, sparse ICMP, no UDP</a:t>
            </a:r>
            <a:endParaRPr sz="2465">
              <a:solidFill>
                <a:srgbClr val="003359"/>
              </a:solidFill>
            </a:endParaRPr>
          </a:p>
        </p:txBody>
      </p:sp>
      <p:pic>
        <p:nvPicPr>
          <p:cNvPr id="184" name="Google Shape;18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12350"/>
            <a:ext cx="9144123" cy="7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idx="1" type="body"/>
          </p:nvPr>
        </p:nvSpPr>
        <p:spPr>
          <a:xfrm>
            <a:off x="88000" y="161275"/>
            <a:ext cx="8874600" cy="3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900">
                <a:solidFill>
                  <a:srgbClr val="003359"/>
                </a:solidFill>
              </a:rPr>
              <a:t>Feature extraction — time-windowed features</a:t>
            </a:r>
            <a:endParaRPr b="1" sz="1900">
              <a:solidFill>
                <a:srgbClr val="003359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700"/>
              <a:buChar char="●"/>
            </a:pPr>
            <a:r>
              <a:rPr lang="en" sz="1700">
                <a:solidFill>
                  <a:srgbClr val="003359"/>
                </a:solidFill>
              </a:rPr>
              <a:t>Unit of analysis: 1-second windows </a:t>
            </a:r>
            <a:endParaRPr sz="1700">
              <a:solidFill>
                <a:srgbClr val="003359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3359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700"/>
              <a:buChar char="●"/>
            </a:pPr>
            <a:r>
              <a:rPr lang="en" sz="1700">
                <a:solidFill>
                  <a:srgbClr val="003359"/>
                </a:solidFill>
              </a:rPr>
              <a:t>Features include: packets/sec, bytes/sec, mean &amp; standard-deviation of packet size, unique destination ports, </a:t>
            </a:r>
            <a:r>
              <a:rPr b="1" lang="en" sz="1700">
                <a:solidFill>
                  <a:srgbClr val="003359"/>
                </a:solidFill>
              </a:rPr>
              <a:t>new-connection count (SYNs)</a:t>
            </a:r>
            <a:r>
              <a:rPr lang="en" sz="1700">
                <a:solidFill>
                  <a:srgbClr val="003359"/>
                </a:solidFill>
              </a:rPr>
              <a:t>, </a:t>
            </a:r>
            <a:r>
              <a:rPr b="1" lang="en" sz="1700">
                <a:solidFill>
                  <a:srgbClr val="003359"/>
                </a:solidFill>
              </a:rPr>
              <a:t>TLS handshake count</a:t>
            </a:r>
            <a:r>
              <a:rPr lang="en" sz="1700">
                <a:solidFill>
                  <a:srgbClr val="003359"/>
                </a:solidFill>
              </a:rPr>
              <a:t>, per-protocol fractions</a:t>
            </a:r>
            <a:endParaRPr sz="1700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3359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700"/>
              <a:buChar char="●"/>
            </a:pPr>
            <a:r>
              <a:rPr lang="en" sz="1700">
                <a:solidFill>
                  <a:srgbClr val="003359"/>
                </a:solidFill>
              </a:rPr>
              <a:t>The discriminating features for TLS: </a:t>
            </a:r>
            <a:r>
              <a:rPr lang="en" sz="1700">
                <a:solidFill>
                  <a:srgbClr val="003359"/>
                </a:solidFill>
                <a:latin typeface="Roboto Mono"/>
                <a:ea typeface="Roboto Mono"/>
                <a:cs typeface="Roboto Mono"/>
                <a:sym typeface="Roboto Mono"/>
              </a:rPr>
              <a:t>syn_count</a:t>
            </a:r>
            <a:r>
              <a:rPr lang="en" sz="1700">
                <a:solidFill>
                  <a:srgbClr val="003359"/>
                </a:solidFill>
              </a:rPr>
              <a:t> and </a:t>
            </a:r>
            <a:r>
              <a:rPr lang="en" sz="1700">
                <a:solidFill>
                  <a:srgbClr val="003359"/>
                </a:solidFill>
                <a:latin typeface="Roboto Mono"/>
                <a:ea typeface="Roboto Mono"/>
                <a:cs typeface="Roboto Mono"/>
                <a:sym typeface="Roboto Mono"/>
              </a:rPr>
              <a:t>tls_handshake</a:t>
            </a:r>
            <a:r>
              <a:rPr lang="en" sz="1700">
                <a:solidFill>
                  <a:srgbClr val="003359"/>
                </a:solidFill>
              </a:rPr>
              <a:t> — near-zero in benign (one persistent session), high in the flood (a new connection per handshake)</a:t>
            </a:r>
            <a:endParaRPr sz="1700">
              <a:solidFill>
                <a:srgbClr val="003359"/>
              </a:solidFill>
            </a:endParaRPr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12350"/>
            <a:ext cx="9144123" cy="7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145900" y="181500"/>
            <a:ext cx="8795400" cy="42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600">
                <a:solidFill>
                  <a:srgbClr val="003359"/>
                </a:solidFill>
              </a:rPr>
              <a:t>The z-score model and evaluation</a:t>
            </a:r>
            <a:endParaRPr b="1" sz="1600">
              <a:solidFill>
                <a:srgbClr val="003359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b="1" lang="en" sz="1600">
                <a:solidFill>
                  <a:srgbClr val="003359"/>
                </a:solidFill>
              </a:rPr>
              <a:t>Method</a:t>
            </a:r>
            <a:endParaRPr b="1" sz="1600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3359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lang="en" sz="1600">
                <a:solidFill>
                  <a:srgbClr val="003359"/>
                </a:solidFill>
              </a:rPr>
              <a:t>Formula: </a:t>
            </a:r>
            <a:r>
              <a:rPr lang="en" sz="1600">
                <a:solidFill>
                  <a:srgbClr val="003359"/>
                </a:solidFill>
                <a:latin typeface="Roboto Mono"/>
                <a:ea typeface="Roboto Mono"/>
                <a:cs typeface="Roboto Mono"/>
                <a:sym typeface="Roboto Mono"/>
              </a:rPr>
              <a:t>z = (x − μ) / σ</a:t>
            </a:r>
            <a:r>
              <a:rPr lang="en" sz="1600">
                <a:solidFill>
                  <a:srgbClr val="003359"/>
                </a:solidFill>
              </a:rPr>
              <a:t>; a window is flagged if any feature exceeds a threshold (3σ)</a:t>
            </a:r>
            <a:endParaRPr sz="1600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3359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b="1" lang="en" sz="1600">
                <a:solidFill>
                  <a:srgbClr val="003359"/>
                </a:solidFill>
              </a:rPr>
              <a:t>Train/test split:</a:t>
            </a:r>
            <a:r>
              <a:rPr lang="en" sz="1600">
                <a:solidFill>
                  <a:srgbClr val="003359"/>
                </a:solidFill>
              </a:rPr>
              <a:t> first 80% for training, last 20% for testing</a:t>
            </a:r>
            <a:endParaRPr sz="1600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3359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b="1" lang="en" sz="1600">
                <a:solidFill>
                  <a:srgbClr val="003359"/>
                </a:solidFill>
              </a:rPr>
              <a:t>Evaluated on three sets:</a:t>
            </a:r>
            <a:r>
              <a:rPr lang="en" sz="1600">
                <a:solidFill>
                  <a:srgbClr val="003359"/>
                </a:solidFill>
              </a:rPr>
              <a:t> held-out benign (false positives), TLS attack (detection), and — as a cross-check — ICMP attack</a:t>
            </a:r>
            <a:endParaRPr sz="1600">
              <a:solidFill>
                <a:srgbClr val="003359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3359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3359"/>
              </a:buClr>
              <a:buSzPts val="1600"/>
              <a:buChar char="●"/>
            </a:pPr>
            <a:r>
              <a:rPr b="1" lang="en" sz="1600">
                <a:solidFill>
                  <a:srgbClr val="003359"/>
                </a:solidFill>
              </a:rPr>
              <a:t>Results:</a:t>
            </a:r>
            <a:r>
              <a:rPr lang="en" sz="1600">
                <a:solidFill>
                  <a:srgbClr val="003359"/>
                </a:solidFill>
              </a:rPr>
              <a:t> TLS flood detected at ~71%, ICMP at 100%, false-positive rate ~6.6% on benign</a:t>
            </a:r>
            <a:endParaRPr sz="2200">
              <a:solidFill>
                <a:srgbClr val="003359"/>
              </a:solidFill>
            </a:endParaRPr>
          </a:p>
        </p:txBody>
      </p:sp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12350"/>
            <a:ext cx="9144123" cy="7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78875" y="3397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Future Work</a:t>
            </a:r>
            <a:endParaRPr>
              <a:solidFill>
                <a:srgbClr val="FF9900"/>
              </a:solidFill>
            </a:endParaRPr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12350"/>
            <a:ext cx="9251527" cy="73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142350" y="613350"/>
            <a:ext cx="8747700" cy="39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Machine-learning anomaly detection 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Richer benign baseline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Broader threat coverage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Automated mitigation (closing the loop)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Live deployment and validation</a:t>
            </a:r>
            <a:endParaRPr sz="14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08" name="Google Shape;20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21095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320">
                <a:solidFill>
                  <a:srgbClr val="FF9900"/>
                </a:solidFill>
              </a:rPr>
              <a:t>Questions ?</a:t>
            </a:r>
            <a:endParaRPr sz="4320">
              <a:solidFill>
                <a:srgbClr val="FF9900"/>
              </a:solidFill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25" y="4412355"/>
            <a:ext cx="9143998" cy="731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